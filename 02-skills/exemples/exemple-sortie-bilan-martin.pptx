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4A6FB5"/>
              </a:solidFill>
              <a:effectLst/>
            </c:spPr>
          </c:dPt>
          <c:dPt>
            <c:idx val="2"/>
            <c:bubble3D val="0"/>
            <c:spPr>
              <a:solidFill>
                <a:srgbClr val="9FB4D8"/>
              </a:solidFill>
              <a:effectLst/>
            </c:spPr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Entreprise (holding)  42 %</c:v>
                </c:pt>
                <c:pt idx="1">
                  <c:v>Immobilier  30 %</c:v>
                </c:pt>
                <c:pt idx="2">
                  <c:v>Financier  22 %</c:v>
                </c:pt>
                <c:pt idx="3">
                  <c:v>Liquidités  6 %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30</c:v>
                </c:pt>
                <c:pt idx="2">
                  <c:v>22</c:v>
                </c:pt>
                <c:pt idx="3">
                  <c:v>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6454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DÉMO PATRIMOINE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bilan patrimonial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Pierre Martin et Mme Anne Martin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de découverte du 12/05/2026  ·  Bilan établi le 29/07/2026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travail  ·  Cas fictif de démonstration  ·  Ne constitue pas un conseil en investissement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patrimoine en un coup d'œil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0" y="1325880"/>
            <a:ext cx="5669280" cy="1051560"/>
          </a:xfrm>
          <a:prstGeom prst="roundRect">
            <a:avLst>
              <a:gd name="adj" fmla="val 5217"/>
            </a:avLst>
          </a:prstGeom>
          <a:solidFill>
            <a:srgbClr val="F2F5FA"/>
          </a:solidFill>
          <a:ln/>
        </p:spPr>
      </p:sp>
      <p:sp>
        <p:nvSpPr>
          <p:cNvPr id="4" name="Text 2"/>
          <p:cNvSpPr/>
          <p:nvPr/>
        </p:nvSpPr>
        <p:spPr>
          <a:xfrm>
            <a:off x="6309360" y="1435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2 843 500 €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418320" y="143560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 brut estimé*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2560320"/>
            <a:ext cx="5669280" cy="1051560"/>
          </a:xfrm>
          <a:prstGeom prst="roundRect">
            <a:avLst>
              <a:gd name="adj" fmla="val 5217"/>
            </a:avLst>
          </a:prstGeom>
          <a:solidFill>
            <a:srgbClr val="F2F5FA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26700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418320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Passif (crédits soldés)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3794760"/>
            <a:ext cx="5669280" cy="1051560"/>
          </a:xfrm>
          <a:prstGeom prst="roundRect">
            <a:avLst>
              <a:gd name="adj" fmla="val 5217"/>
            </a:avLst>
          </a:prstGeom>
          <a:solidFill>
            <a:srgbClr val="F2F5FA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39044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2 843 500 €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418320" y="39044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 net estimé*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65760" y="128016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56235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</a:t>
            </a:r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près de la moitié du patrimoine repose sur l'entreprise, dont la valeur (1 200 000 €) est une estimation prudente non expertisée. Valorisations aux dates indiquées slide 4.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035040" y="5074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Estimations sur base déclarative, à consolider avec les pièces attendues (slide 8).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famille Martin  |  RDV du 12/05/2026  |  Document de travail  |  Cabinet Démo Patrimoine (fictif)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situation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Mariés en 1998 sans contrat : communauté réduite aux acquêts (source : déclaratif, à confirmer)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enfants majeurs : Camille, 32 ans (première union de M. Martin), Léa, 27 ans et Hugo, 24 ans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donation entre époux, pas de testament (déclaratif)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mandat de protection future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09360" y="1234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Revenus et fiscalité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Martin : dirigeant de PME (60 salariés), 120 000 € brut/an + dividendes irréguliers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 Martin : cadre salariée (santé), 58 000 € brut/an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TMI du foyer : 41 % (source : déclaratif, avis d'imposition attendu)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du foyer : environ 5 500 €/mois ; capacité d'épargne : donnée non disponible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IFI : non assujettis selon eux, à vérifier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512064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F2F5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257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Prévoyance : 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garanties obligatoires de l'entreprise, jamais auditées. Retraite envisagée vers 62 ans, après cession de l'entreprise (4 à 6 ans).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famille Martin  |  RDV du 12/05/2026  |  Document de travail  |  Cabinet Démo Patrimoine (fictif)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détail de vos actifs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34440"/>
                <a:gridCol w="1554480"/>
                <a:gridCol w="1234440"/>
                <a:gridCol w="40507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Fiabilité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Résidence principale (Lyon)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850 000 €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Estimation déclarative « 800 à 900 k€ 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Titres PME (holding)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1 200 000 €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Martin, 100 %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expertisée ; aucun pacte, cession non préparée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Assurance-vie Horizon Patrimoine (Compagnie Alpha)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348 500 €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Martin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Ouverte en 2011, versements 2011-2019 ; clause « standard » à vérifier sur pièce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Assurance-vie (Compagnie Beta)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85 000 €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Mme Martin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Ouverte en 2021 ; clause à vérifier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120 000 €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Martin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 en 2015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Livrets et comptes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180 000 €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Ça dort », plusieurs établissements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60 000 €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Revenus environ 2 700 €/an (déclaratif)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valorisations sont déclaratives (rendez-vous du 12/05/2026) : aucune pièce reçue à ce jour. Le bilan sera consolidé à réception des documents listés slide 8.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famille Martin  |  RDV du 12/05/2026  |  Document de travail  |  Cabinet Démo Patrimoine (fictif)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d'attention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1554480"/>
          </a:xfrm>
          <a:prstGeom prst="roundRect">
            <a:avLst>
              <a:gd name="adj" fmla="val 3529"/>
            </a:avLst>
          </a:prstGeom>
          <a:solidFill>
            <a:srgbClr val="F2F5F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898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180 000 € d'épargne qui dort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: les liquidités représentent 33 mois de charges courantes (5 500 €/mois), là où l'épargne de précaution de référence du cabinet est de 6 mois, soit 33 000 €. Excédent d'environ 147 000 € non rémunéré.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à explorer avec vous : le niveau de sécurité immédiate dont vous avez réellement besoin.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11274552" cy="1554480"/>
          </a:xfrm>
          <a:prstGeom prst="roundRect">
            <a:avLst>
              <a:gd name="adj" fmla="val 3529"/>
            </a:avLst>
          </a:prstGeom>
          <a:solidFill>
            <a:srgbClr val="F2F5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08152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protection de Mme Martin n'est pas organisée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: pas de donation entre époux, pas de testament, dans une famille recomposée (trois enfants dont une d'une première union). Or « protéger Anne » est votre priorité exprimée n° 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à explorer avec vous : ce qui se passerait concrètement pour chacun au premier décès, à examiner avec votre notaire.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11274552" cy="1554480"/>
          </a:xfrm>
          <a:prstGeom prst="roundRect">
            <a:avLst>
              <a:gd name="adj" fmla="val 3529"/>
            </a:avLst>
          </a:prstGeom>
          <a:solidFill>
            <a:srgbClr val="F2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7731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clauses bénéficiaires jamais vérifiées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516636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: la clause du contrat Compagnie Alpha (348 500 €) est « la standard, je crois ». Aucune des deux clauses n'a été relue depuis la souscription.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57150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à explorer avec vous : relecture des deux clauses sur pièce, à mettre en regard de votre objectif de protection du conjoint.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famille Martin  |  RDV du 12/05/2026  |  Document de travail  |  Cabinet Démo Patrimoine (fictif)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d'attention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1554480"/>
          </a:xfrm>
          <a:prstGeom prst="roundRect">
            <a:avLst>
              <a:gd name="adj" fmla="val 3529"/>
            </a:avLst>
          </a:prstGeom>
          <a:solidFill>
            <a:srgbClr val="F2F5F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8988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fiscalité subie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: TMI de 41 % et aucun dispositif de déduction utilisé (pas de PER identifié, pas d'épargne retraite déductible). Chiffrage précis possible à réception de l'avis d'imposition.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à explorer avec vous : vos revenus des 4 à 6 prochaines années (avant cession) et les leviers de déduction adaptés.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11274552" cy="1554480"/>
          </a:xfrm>
          <a:prstGeom prst="roundRect">
            <a:avLst>
              <a:gd name="adj" fmla="val 3529"/>
            </a:avLst>
          </a:prstGeom>
          <a:solidFill>
            <a:srgbClr val="F2F5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08152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42 % du patrimoine sur un seul actif, non préparé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: l'entreprise (estimation 1 200 000 €) est le premier actif du foyer ; la cession envisagée dans 4 à 6 ans n'a fait l'objet d'aucune préparation (pas de pacte, pas d'expertise, structure de détention non optimisée).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à explorer avec vous : le calendrier de préparation de la cession, avec votre expert-comptable et votre notaire.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11274552" cy="1554480"/>
          </a:xfrm>
          <a:prstGeom prst="roundRect">
            <a:avLst>
              <a:gd name="adj" fmla="val 3529"/>
            </a:avLst>
          </a:prstGeom>
          <a:solidFill>
            <a:srgbClr val="F2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7731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prévoyance du dirigeant n'a jamais été auditée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516636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: seules les garanties obligatoires de l'entreprise existent. En cas d'arrêt ou de décès de M. Martin, les revenus du foyer et la valeur de l'entreprise seraient exposés simultanément.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57150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à explorer avec vous : un audit de prévoyance dirigeant (garanties actuelles, besoins réels).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famille Martin  |  RDV du 12/05/2026  |  Document de travail  |  Cabinet Démo Patrimoine (fictif)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objectifs, tels que nous les avons compris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12745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Céder l'entreprise dans 4 à 6 ans 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prendre votre retraite dans la foulée (vers 62 ans)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745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Anne 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je pars avant, je veux qu'elle soit tranquille 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12745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33375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Transmettre aux trois enfants 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sans les brouiller », et sans qu'ils aient à vendre pour payer les droits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42976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Alléger la fiscalité 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on paie beaucoup trop d'impôts et on ne fait rien 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5257800"/>
            <a:ext cx="1127455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37667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Avons-nous bien compris ?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restera à clarifier ensemble : l'égalité parfaite entre les trois enfants et la protection maximale d'Anne peuvent tirer en sens inverse. Nous en parlerons au prochain rendez-vous.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famille Martin  |  RDV du 12/05/2026  |  Document de travail  |  Cabinet Démo Patrimoine (fictif)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compléter votre dossier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attendus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d'imposition 2025 : fiabiliser TMI, revenus et parts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des deux assurances-vie : encours, supports, frais, clauses bénéficiaires, historique des versements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et derniers bilans de la holding : détention exacte et valorisation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Livret de famille et éventuel contrat de mariage : confirmer le régime matrimonial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de prévoyance de l'entreprise : garanties réelles du dirigeant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de carrière (les deux) : préparer le volet retraite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234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nous transmettez les pièces (lien sécurisé fourni)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consolidons ce bilan et vérifions chaque valorisation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de restitution : nous parcourons ensemble les points d'attention et vos priorités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décision d'investissement n'est à prendre à ce stade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famille Martin  |  RDV du 12/05/2026  |  Document de travail  |  Cabinet Démo Patrimoine (fictif)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travail interne, généré par IA. Ne constitue pas un conseil en investissement. À vérifier et valider par le conseiller avant toute présentation au client.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support est un exemple de démonstration : la famille Martin et les établissements cités sont fictifs. Toute ressemblance avec des personnes ou produits réels serait fortuite.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bilan est une photographie établie sur les déclarations du rendez-vous du 12/05/2026, sans pièce justificative à ce stade : chaque donnée porte sa fiabilité (certaine, à confirmer, estimée). Il ne comporte aucune recommandation : les points d'attention sont des observations à explorer avec le conseiller.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Démo Patrimoine (fictif)  ·  Support généré avec le skill « bilan-patrimonial »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2026-07-29T15:02:48Z</dcterms:created>
  <dcterms:modified xsi:type="dcterms:W3CDTF">2026-07-29T15:02:48Z</dcterms:modified>
</cp:coreProperties>
</file>