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Allocation</c:v>
                </c:pt>
              </c:strCache>
            </c:strRef>
          </c:tx>
          <c:spPr>
            <a:solidFill>
              <a:schemeClr val="accent1"/>
            </a:solidFill>
            <a:ln w="9525" cap="flat">
              <a:solidFill>
                <a:srgbClr val="F9F9F9"/>
              </a:solidFill>
              <a:prstDash val="solid"/>
              <a:round/>
            </a:ln>
            <a:effectLst/>
          </c:spPr>
          <c:dPt>
            <c:idx val="0"/>
            <c:bubble3D val="0"/>
            <c:spPr>
              <a:solidFill>
                <a:srgbClr val="1E2761"/>
              </a:solidFill>
              <a:effectLst/>
            </c:spPr>
          </c:dPt>
          <c:dPt>
            <c:idx val="1"/>
            <c:bubble3D val="0"/>
            <c:spPr>
              <a:solidFill>
                <a:srgbClr val="4A6FB5"/>
              </a:solidFill>
              <a:effectLst/>
            </c:spPr>
          </c:dPt>
          <c:dPt>
            <c:idx val="2"/>
            <c:bubble3D val="0"/>
            <c:spPr>
              <a:solidFill>
                <a:srgbClr val="7C93C3"/>
              </a:solidFill>
              <a:effectLst/>
            </c:spPr>
          </c:dPt>
          <c:dPt>
            <c:idx val="3"/>
            <c:bubble3D val="0"/>
            <c:spPr>
              <a:solidFill>
                <a:srgbClr val="9FB4D8"/>
              </a:solidFill>
              <a:effectLst/>
            </c:spPr>
          </c:dPt>
          <c:dPt>
            <c:idx val="4"/>
            <c:bubble3D val="0"/>
            <c:spPr>
              <a:solidFill>
                <a:srgbClr val="CADCFC"/>
              </a:solidFill>
              <a:effectLst/>
            </c:spPr>
          </c:dPt>
          <c:dPt>
            <c:idx val="5"/>
            <c:bubble3D val="0"/>
            <c:spPr>
              <a:solidFill>
                <a:srgbClr val="E3EBF6"/>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4"/>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5"/>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Sheet1!$A$2:$A$7</c:f>
              <c:strCache>
                <c:ptCount val="6"/>
                <c:pt idx="0">
                  <c:v>Fonds euros  45 %</c:v>
                </c:pt>
                <c:pt idx="1">
                  <c:v>Actions monde A  15 %</c:v>
                </c:pt>
                <c:pt idx="2">
                  <c:v>Actions monde B  10 %</c:v>
                </c:pt>
                <c:pt idx="3">
                  <c:v>Actions Europe  15 %</c:v>
                </c:pt>
                <c:pt idx="4">
                  <c:v>Obligations euro  10 %</c:v>
                </c:pt>
                <c:pt idx="5">
                  <c:v>Monétaire  5 %</c:v>
                </c:pt>
              </c:strCache>
            </c:strRef>
          </c:cat>
          <c:val>
            <c:numRef>
              <c:f>Sheet1!$B$2:$B$7</c:f>
              <c:numCache>
                <c:ptCount val="6"/>
                <c:pt idx="0">
                  <c:v>45</c:v>
                </c:pt>
                <c:pt idx="1">
                  <c:v>15</c:v>
                </c:pt>
                <c:pt idx="2">
                  <c:v>10</c:v>
                </c:pt>
                <c:pt idx="3">
                  <c:v>15</c:v>
                </c:pt>
                <c:pt idx="4">
                  <c:v>10</c:v>
                </c:pt>
                <c:pt idx="5">
                  <c:v>5</c:v>
                </c:pt>
              </c:numCache>
            </c:numRef>
          </c:val>
        </c:ser>
        <c:firstSliceAng val="0"/>
        <c:holeSize val="60"/>
      </c:doughnutChart>
      <c:spPr>
        <a:noFill/>
        <a:ln>
          <a:noFill/>
        </a:ln>
        <a:effectLst/>
      </c:spPr>
    </c:plotArea>
    <c:legend>
      <c:legendPos val="b"/>
      <c:overlay val="0"/>
      <c:txPr>
        <a:bodyPr/>
        <a:lstStyle/>
        <a:p>
          <a:pPr>
            <a:defRPr sz="1200">
              <a:solidFill>
                <a:srgbClr val="36454F"/>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502920"/>
            <a:ext cx="7315200" cy="365760"/>
          </a:xfrm>
          <a:prstGeom prst="rect">
            <a:avLst/>
          </a:prstGeom>
          <a:noFill/>
          <a:ln/>
        </p:spPr>
        <p:txBody>
          <a:bodyPr wrap="square" lIns="0" tIns="0" rIns="0" bIns="0" rtlCol="0" anchor="ctr"/>
          <a:lstStyle/>
          <a:p>
            <a:pPr indent="0" marL="0">
              <a:buNone/>
            </a:pPr>
            <a:r>
              <a:rPr lang="en-US" sz="1400" b="1" spc="400" kern="0" dirty="0">
                <a:solidFill>
                  <a:srgbClr val="CADCFC"/>
                </a:solidFill>
                <a:latin typeface="Calibri" pitchFamily="34" charset="0"/>
                <a:ea typeface="Calibri" pitchFamily="34" charset="-122"/>
                <a:cs typeface="Calibri" pitchFamily="34" charset="-120"/>
              </a:rPr>
              <a:t>CABINET DÉMO PATRIMOINE</a:t>
            </a:r>
            <a:endParaRPr lang="en-US" sz="1400" dirty="0"/>
          </a:p>
        </p:txBody>
      </p:sp>
      <p:sp>
        <p:nvSpPr>
          <p:cNvPr id="3" name="Text 1"/>
          <p:cNvSpPr/>
          <p:nvPr/>
        </p:nvSpPr>
        <p:spPr>
          <a:xfrm>
            <a:off x="548640" y="1920240"/>
            <a:ext cx="10515600" cy="2011680"/>
          </a:xfrm>
          <a:prstGeom prst="rect">
            <a:avLst/>
          </a:prstGeom>
          <a:noFill/>
          <a:ln/>
        </p:spPr>
        <p:txBody>
          <a:bodyPr wrap="square" lIns="0" tIns="0" rIns="0" bIns="0" rtlCol="0" anchor="ctr"/>
          <a:lstStyle/>
          <a:p>
            <a:pPr algn="l" indent="0" marL="0">
              <a:buNone/>
            </a:pPr>
            <a:r>
              <a:rPr lang="en-US" sz="4800" b="1" dirty="0">
                <a:solidFill>
                  <a:srgbClr val="FFFFFF"/>
                </a:solidFill>
                <a:latin typeface="Cambria" pitchFamily="34" charset="0"/>
                <a:ea typeface="Cambria" pitchFamily="34" charset="-122"/>
                <a:cs typeface="Cambria" pitchFamily="34" charset="-120"/>
              </a:rPr>
              <a:t>Audit de votre contrat</a:t>
            </a:r>
            <a:endParaRPr lang="en-US" sz="4800" dirty="0"/>
          </a:p>
          <a:p>
            <a:pPr algn="l" indent="0" marL="0">
              <a:buNone/>
            </a:pPr>
            <a:r>
              <a:rPr lang="en-US" sz="4800" b="1" dirty="0">
                <a:solidFill>
                  <a:srgbClr val="FFFFFF"/>
                </a:solidFill>
                <a:latin typeface="Cambria" pitchFamily="34" charset="0"/>
                <a:ea typeface="Cambria" pitchFamily="34" charset="-122"/>
                <a:cs typeface="Cambria" pitchFamily="34" charset="-120"/>
              </a:rPr>
              <a:t>d'assurance-vie</a:t>
            </a:r>
            <a:endParaRPr lang="en-US" sz="4800" dirty="0"/>
          </a:p>
        </p:txBody>
      </p:sp>
      <p:sp>
        <p:nvSpPr>
          <p:cNvPr id="4" name="Text 2"/>
          <p:cNvSpPr/>
          <p:nvPr/>
        </p:nvSpPr>
        <p:spPr>
          <a:xfrm>
            <a:off x="548640" y="4114800"/>
            <a:ext cx="10515600" cy="45720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M. Pierre Martin   |   Contrat Horizon Patrimoine   |   Compagnie Alpha</a:t>
            </a:r>
            <a:endParaRPr lang="en-US" sz="1800" dirty="0"/>
          </a:p>
        </p:txBody>
      </p:sp>
      <p:sp>
        <p:nvSpPr>
          <p:cNvPr id="5" name="Text 3"/>
          <p:cNvSpPr/>
          <p:nvPr/>
        </p:nvSpPr>
        <p:spPr>
          <a:xfrm>
            <a:off x="548640" y="4617720"/>
            <a:ext cx="1051560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Données au 31/05/2026  ·  Audit préparé le 29/07/2026</a:t>
            </a:r>
            <a:endParaRPr lang="en-US" sz="1300" dirty="0"/>
          </a:p>
        </p:txBody>
      </p:sp>
      <p:sp>
        <p:nvSpPr>
          <p:cNvPr id="6" name="Text 4"/>
          <p:cNvSpPr/>
          <p:nvPr/>
        </p:nvSpPr>
        <p:spPr>
          <a:xfrm>
            <a:off x="548640" y="6172200"/>
            <a:ext cx="10515600" cy="320040"/>
          </a:xfrm>
          <a:prstGeom prst="rect">
            <a:avLst/>
          </a:prstGeom>
          <a:noFill/>
          <a:ln/>
        </p:spPr>
        <p:txBody>
          <a:bodyPr wrap="square" lIns="0" tIns="0" rIns="0" bIns="0"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Document de travail  ·  Cas fictif de démonstration  ·  Ne constitue pas un conseil en investissement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La synthèse en 3 chiffres</a:t>
            </a:r>
            <a:endParaRPr lang="en-US" sz="3000" dirty="0"/>
          </a:p>
        </p:txBody>
      </p:sp>
      <p:sp>
        <p:nvSpPr>
          <p:cNvPr id="3" name="Shape 1"/>
          <p:cNvSpPr/>
          <p:nvPr/>
        </p:nvSpPr>
        <p:spPr>
          <a:xfrm>
            <a:off x="457200" y="1371600"/>
            <a:ext cx="3566160" cy="3291840"/>
          </a:xfrm>
          <a:prstGeom prst="roundRect">
            <a:avLst>
              <a:gd name="adj" fmla="val 2222"/>
            </a:avLst>
          </a:prstGeom>
          <a:solidFill>
            <a:srgbClr val="F2F5FA"/>
          </a:solidFill>
          <a:ln/>
        </p:spPr>
      </p:sp>
      <p:sp>
        <p:nvSpPr>
          <p:cNvPr id="4" name="Text 2"/>
          <p:cNvSpPr/>
          <p:nvPr/>
        </p:nvSpPr>
        <p:spPr>
          <a:xfrm>
            <a:off x="457200" y="1691640"/>
            <a:ext cx="3566160" cy="1097280"/>
          </a:xfrm>
          <a:prstGeom prst="rect">
            <a:avLst/>
          </a:prstGeom>
          <a:noFill/>
          <a:ln/>
        </p:spPr>
        <p:txBody>
          <a:bodyPr wrap="square" lIns="0" tIns="0" rIns="0" bIns="0" rtlCol="0" anchor="ctr"/>
          <a:lstStyle/>
          <a:p>
            <a:pPr algn="ctr" indent="0" marL="0">
              <a:buNone/>
            </a:pPr>
            <a:r>
              <a:rPr lang="en-US" sz="6000" b="1" dirty="0">
                <a:solidFill>
                  <a:srgbClr val="1E2761"/>
                </a:solidFill>
                <a:latin typeface="Cambria" pitchFamily="34" charset="0"/>
                <a:ea typeface="Cambria" pitchFamily="34" charset="-122"/>
                <a:cs typeface="Cambria" pitchFamily="34" charset="-120"/>
              </a:rPr>
              <a:t>1,85 %</a:t>
            </a:r>
            <a:endParaRPr lang="en-US" sz="6000" dirty="0"/>
          </a:p>
        </p:txBody>
      </p:sp>
      <p:sp>
        <p:nvSpPr>
          <p:cNvPr id="5" name="Text 3"/>
          <p:cNvSpPr/>
          <p:nvPr/>
        </p:nvSpPr>
        <p:spPr>
          <a:xfrm>
            <a:off x="685800" y="2880360"/>
            <a:ext cx="3108960" cy="640080"/>
          </a:xfrm>
          <a:prstGeom prst="rect">
            <a:avLst/>
          </a:prstGeom>
          <a:noFill/>
          <a:ln/>
        </p:spPr>
        <p:txBody>
          <a:bodyPr wrap="square" lIns="0" tIns="0" rIns="0" bIns="0" rtlCol="0" anchor="ctr"/>
          <a:lstStyle/>
          <a:p>
            <a:pPr algn="ctr" indent="0" marL="0">
              <a:buNone/>
            </a:pPr>
            <a:r>
              <a:rPr lang="en-US" sz="1600" b="1" dirty="0">
                <a:solidFill>
                  <a:srgbClr val="36454F"/>
                </a:solidFill>
                <a:latin typeface="Calibri" pitchFamily="34" charset="0"/>
                <a:ea typeface="Calibri" pitchFamily="34" charset="-122"/>
                <a:cs typeface="Calibri" pitchFamily="34" charset="-120"/>
              </a:rPr>
              <a:t>Coût total annuel du contrat</a:t>
            </a:r>
            <a:endParaRPr lang="en-US" sz="1600" dirty="0"/>
          </a:p>
        </p:txBody>
      </p:sp>
      <p:sp>
        <p:nvSpPr>
          <p:cNvPr id="6" name="Text 4"/>
          <p:cNvSpPr/>
          <p:nvPr/>
        </p:nvSpPr>
        <p:spPr>
          <a:xfrm>
            <a:off x="685800" y="3520440"/>
            <a:ext cx="3108960" cy="914400"/>
          </a:xfrm>
          <a:prstGeom prst="rect">
            <a:avLst/>
          </a:prstGeom>
          <a:noFill/>
          <a:ln/>
        </p:spPr>
        <p:txBody>
          <a:bodyPr wrap="square" lIns="0" tIns="0" rIns="0" bIns="0" rtlCol="0" anchor="ctr"/>
          <a:lstStyle/>
          <a:p>
            <a:pPr algn="ctr" indent="0" marL="0">
              <a:buNone/>
            </a:pPr>
            <a:r>
              <a:rPr lang="en-US" sz="1300" dirty="0">
                <a:solidFill>
                  <a:srgbClr val="6B7A8A"/>
                </a:solidFill>
                <a:latin typeface="Calibri" pitchFamily="34" charset="0"/>
                <a:ea typeface="Calibri" pitchFamily="34" charset="-122"/>
                <a:cs typeface="Calibri" pitchFamily="34" charset="-120"/>
              </a:rPr>
              <a:t>soit environ 6 400 € par an</a:t>
            </a:r>
            <a:endParaRPr lang="en-US" sz="1300" dirty="0"/>
          </a:p>
          <a:p>
            <a:pPr algn="ctr" indent="0" marL="0">
              <a:buNone/>
            </a:pPr>
            <a:r>
              <a:rPr lang="en-US" sz="1300" dirty="0">
                <a:solidFill>
                  <a:srgbClr val="6B7A8A"/>
                </a:solidFill>
                <a:latin typeface="Calibri" pitchFamily="34" charset="0"/>
                <a:ea typeface="Calibri" pitchFamily="34" charset="-122"/>
                <a:cs typeface="Calibri" pitchFamily="34" charset="-120"/>
              </a:rPr>
              <a:t>(hors arbitrages)</a:t>
            </a:r>
            <a:endParaRPr lang="en-US" sz="1300" dirty="0"/>
          </a:p>
        </p:txBody>
      </p:sp>
      <p:sp>
        <p:nvSpPr>
          <p:cNvPr id="7" name="Shape 5"/>
          <p:cNvSpPr/>
          <p:nvPr/>
        </p:nvSpPr>
        <p:spPr>
          <a:xfrm>
            <a:off x="4370832" y="1371600"/>
            <a:ext cx="3566160" cy="3291840"/>
          </a:xfrm>
          <a:prstGeom prst="roundRect">
            <a:avLst>
              <a:gd name="adj" fmla="val 2222"/>
            </a:avLst>
          </a:prstGeom>
          <a:solidFill>
            <a:srgbClr val="F2F5FA"/>
          </a:solidFill>
          <a:ln/>
        </p:spPr>
      </p:sp>
      <p:sp>
        <p:nvSpPr>
          <p:cNvPr id="8" name="Text 6"/>
          <p:cNvSpPr/>
          <p:nvPr/>
        </p:nvSpPr>
        <p:spPr>
          <a:xfrm>
            <a:off x="4370832" y="1691640"/>
            <a:ext cx="3566160" cy="1097280"/>
          </a:xfrm>
          <a:prstGeom prst="rect">
            <a:avLst/>
          </a:prstGeom>
          <a:noFill/>
          <a:ln/>
        </p:spPr>
        <p:txBody>
          <a:bodyPr wrap="square" lIns="0" tIns="0" rIns="0" bIns="0" rtlCol="0" anchor="ctr"/>
          <a:lstStyle/>
          <a:p>
            <a:pPr algn="ctr" indent="0" marL="0">
              <a:buNone/>
            </a:pPr>
            <a:r>
              <a:rPr lang="en-US" sz="6000" b="1" dirty="0">
                <a:solidFill>
                  <a:srgbClr val="1E2761"/>
                </a:solidFill>
                <a:latin typeface="Cambria" pitchFamily="34" charset="0"/>
                <a:ea typeface="Cambria" pitchFamily="34" charset="-122"/>
                <a:cs typeface="Cambria" pitchFamily="34" charset="-120"/>
              </a:rPr>
              <a:t>3,4 / 7</a:t>
            </a:r>
            <a:endParaRPr lang="en-US" sz="6000" dirty="0"/>
          </a:p>
        </p:txBody>
      </p:sp>
      <p:sp>
        <p:nvSpPr>
          <p:cNvPr id="9" name="Text 7"/>
          <p:cNvSpPr/>
          <p:nvPr/>
        </p:nvSpPr>
        <p:spPr>
          <a:xfrm>
            <a:off x="4599432" y="2880360"/>
            <a:ext cx="3108960" cy="640080"/>
          </a:xfrm>
          <a:prstGeom prst="rect">
            <a:avLst/>
          </a:prstGeom>
          <a:noFill/>
          <a:ln/>
        </p:spPr>
        <p:txBody>
          <a:bodyPr wrap="square" lIns="0" tIns="0" rIns="0" bIns="0" rtlCol="0" anchor="ctr"/>
          <a:lstStyle/>
          <a:p>
            <a:pPr algn="ctr" indent="0" marL="0">
              <a:buNone/>
            </a:pPr>
            <a:r>
              <a:rPr lang="en-US" sz="1600" b="1" dirty="0">
                <a:solidFill>
                  <a:srgbClr val="36454F"/>
                </a:solidFill>
                <a:latin typeface="Calibri" pitchFamily="34" charset="0"/>
                <a:ea typeface="Calibri" pitchFamily="34" charset="-122"/>
                <a:cs typeface="Calibri" pitchFamily="34" charset="-120"/>
              </a:rPr>
              <a:t>Niveau de risque moyen (SRI)</a:t>
            </a:r>
            <a:endParaRPr lang="en-US" sz="1600" dirty="0"/>
          </a:p>
        </p:txBody>
      </p:sp>
      <p:sp>
        <p:nvSpPr>
          <p:cNvPr id="10" name="Text 8"/>
          <p:cNvSpPr/>
          <p:nvPr/>
        </p:nvSpPr>
        <p:spPr>
          <a:xfrm>
            <a:off x="4599432" y="3520440"/>
            <a:ext cx="3108960" cy="914400"/>
          </a:xfrm>
          <a:prstGeom prst="rect">
            <a:avLst/>
          </a:prstGeom>
          <a:noFill/>
          <a:ln/>
        </p:spPr>
        <p:txBody>
          <a:bodyPr wrap="square" lIns="0" tIns="0" rIns="0" bIns="0" rtlCol="0" anchor="ctr"/>
          <a:lstStyle/>
          <a:p>
            <a:pPr algn="ctr" indent="0" marL="0">
              <a:buNone/>
            </a:pPr>
            <a:r>
              <a:rPr lang="en-US" sz="1300" dirty="0">
                <a:solidFill>
                  <a:srgbClr val="6B7A8A"/>
                </a:solidFill>
                <a:latin typeface="Calibri" pitchFamily="34" charset="0"/>
                <a:ea typeface="Calibri" pitchFamily="34" charset="-122"/>
                <a:cs typeface="Calibri" pitchFamily="34" charset="-120"/>
              </a:rPr>
              <a:t>cohérent avec votre profil</a:t>
            </a:r>
            <a:endParaRPr lang="en-US" sz="1300" dirty="0"/>
          </a:p>
          <a:p>
            <a:pPr algn="ctr" indent="0" marL="0">
              <a:buNone/>
            </a:pPr>
            <a:r>
              <a:rPr lang="en-US" sz="1300" dirty="0">
                <a:solidFill>
                  <a:srgbClr val="6B7A8A"/>
                </a:solidFill>
                <a:latin typeface="Calibri" pitchFamily="34" charset="0"/>
                <a:ea typeface="Calibri" pitchFamily="34" charset="-122"/>
                <a:cs typeface="Calibri" pitchFamily="34" charset="-120"/>
              </a:rPr>
              <a:t>équilibré, horizon 8 ans</a:t>
            </a:r>
            <a:endParaRPr lang="en-US" sz="1300" dirty="0"/>
          </a:p>
        </p:txBody>
      </p:sp>
      <p:sp>
        <p:nvSpPr>
          <p:cNvPr id="11" name="Shape 9"/>
          <p:cNvSpPr/>
          <p:nvPr/>
        </p:nvSpPr>
        <p:spPr>
          <a:xfrm>
            <a:off x="8284464" y="1371600"/>
            <a:ext cx="3566160" cy="3291840"/>
          </a:xfrm>
          <a:prstGeom prst="roundRect">
            <a:avLst>
              <a:gd name="adj" fmla="val 2222"/>
            </a:avLst>
          </a:prstGeom>
          <a:solidFill>
            <a:srgbClr val="F2F5FA"/>
          </a:solidFill>
          <a:ln/>
        </p:spPr>
      </p:sp>
      <p:sp>
        <p:nvSpPr>
          <p:cNvPr id="12" name="Text 10"/>
          <p:cNvSpPr/>
          <p:nvPr/>
        </p:nvSpPr>
        <p:spPr>
          <a:xfrm>
            <a:off x="8284464" y="1691640"/>
            <a:ext cx="3566160" cy="1097280"/>
          </a:xfrm>
          <a:prstGeom prst="rect">
            <a:avLst/>
          </a:prstGeom>
          <a:noFill/>
          <a:ln/>
        </p:spPr>
        <p:txBody>
          <a:bodyPr wrap="square" lIns="0" tIns="0" rIns="0" bIns="0" rtlCol="0" anchor="ctr"/>
          <a:lstStyle/>
          <a:p>
            <a:pPr algn="ctr" indent="0" marL="0">
              <a:buNone/>
            </a:pPr>
            <a:r>
              <a:rPr lang="en-US" sz="6000" b="1" dirty="0">
                <a:solidFill>
                  <a:srgbClr val="1E2761"/>
                </a:solidFill>
                <a:latin typeface="Cambria" pitchFamily="34" charset="0"/>
                <a:ea typeface="Cambria" pitchFamily="34" charset="-122"/>
                <a:cs typeface="Cambria" pitchFamily="34" charset="-120"/>
              </a:rPr>
              <a:t>45 %</a:t>
            </a:r>
            <a:endParaRPr lang="en-US" sz="6000" dirty="0"/>
          </a:p>
        </p:txBody>
      </p:sp>
      <p:sp>
        <p:nvSpPr>
          <p:cNvPr id="13" name="Text 11"/>
          <p:cNvSpPr/>
          <p:nvPr/>
        </p:nvSpPr>
        <p:spPr>
          <a:xfrm>
            <a:off x="8513064" y="2880360"/>
            <a:ext cx="3108960" cy="640080"/>
          </a:xfrm>
          <a:prstGeom prst="rect">
            <a:avLst/>
          </a:prstGeom>
          <a:noFill/>
          <a:ln/>
        </p:spPr>
        <p:txBody>
          <a:bodyPr wrap="square" lIns="0" tIns="0" rIns="0" bIns="0" rtlCol="0" anchor="ctr"/>
          <a:lstStyle/>
          <a:p>
            <a:pPr algn="ctr" indent="0" marL="0">
              <a:buNone/>
            </a:pPr>
            <a:r>
              <a:rPr lang="en-US" sz="1600" b="1" dirty="0">
                <a:solidFill>
                  <a:srgbClr val="36454F"/>
                </a:solidFill>
                <a:latin typeface="Calibri" pitchFamily="34" charset="0"/>
                <a:ea typeface="Calibri" pitchFamily="34" charset="-122"/>
                <a:cs typeface="Calibri" pitchFamily="34" charset="-120"/>
              </a:rPr>
              <a:t>de l'encours en fonds euros</a:t>
            </a:r>
            <a:endParaRPr lang="en-US" sz="1600" dirty="0"/>
          </a:p>
        </p:txBody>
      </p:sp>
      <p:sp>
        <p:nvSpPr>
          <p:cNvPr id="14" name="Text 12"/>
          <p:cNvSpPr/>
          <p:nvPr/>
        </p:nvSpPr>
        <p:spPr>
          <a:xfrm>
            <a:off x="8513064" y="3520440"/>
            <a:ext cx="3108960" cy="914400"/>
          </a:xfrm>
          <a:prstGeom prst="rect">
            <a:avLst/>
          </a:prstGeom>
          <a:noFill/>
          <a:ln/>
        </p:spPr>
        <p:txBody>
          <a:bodyPr wrap="square" lIns="0" tIns="0" rIns="0" bIns="0" rtlCol="0" anchor="ctr"/>
          <a:lstStyle/>
          <a:p>
            <a:pPr algn="ctr" indent="0" marL="0">
              <a:buNone/>
            </a:pPr>
            <a:r>
              <a:rPr lang="en-US" sz="1300" dirty="0">
                <a:solidFill>
                  <a:srgbClr val="6B7A8A"/>
                </a:solidFill>
                <a:latin typeface="Calibri" pitchFamily="34" charset="0"/>
                <a:ea typeface="Calibri" pitchFamily="34" charset="-122"/>
                <a:cs typeface="Calibri" pitchFamily="34" charset="-120"/>
              </a:rPr>
              <a:t>un placement prudent qui</a:t>
            </a:r>
            <a:endParaRPr lang="en-US" sz="1300" dirty="0"/>
          </a:p>
          <a:p>
            <a:pPr algn="ctr" indent="0" marL="0">
              <a:buNone/>
            </a:pPr>
            <a:r>
              <a:rPr lang="en-US" sz="1300" dirty="0">
                <a:solidFill>
                  <a:srgbClr val="6B7A8A"/>
                </a:solidFill>
                <a:latin typeface="Calibri" pitchFamily="34" charset="0"/>
                <a:ea typeface="Calibri" pitchFamily="34" charset="-122"/>
                <a:cs typeface="Calibri" pitchFamily="34" charset="-120"/>
              </a:rPr>
              <a:t>interroge sur un horizon de 8 ans</a:t>
            </a:r>
            <a:endParaRPr lang="en-US" sz="1300" dirty="0"/>
          </a:p>
        </p:txBody>
      </p:sp>
      <p:sp>
        <p:nvSpPr>
          <p:cNvPr id="15" name="Text 13"/>
          <p:cNvSpPr/>
          <p:nvPr/>
        </p:nvSpPr>
        <p:spPr>
          <a:xfrm>
            <a:off x="457200" y="5029200"/>
            <a:ext cx="11274552" cy="1005840"/>
          </a:xfrm>
          <a:prstGeom prst="rect">
            <a:avLst/>
          </a:prstGeom>
          <a:noFill/>
          <a:ln/>
        </p:spPr>
        <p:txBody>
          <a:bodyPr wrap="square" lIns="0" tIns="0" rIns="0" bIns="0" rtlCol="0" anchor="ctr"/>
          <a:lstStyle/>
          <a:p>
            <a:pPr algn="l" indent="0" marL="0">
              <a:buNone/>
            </a:pPr>
            <a:r>
              <a:rPr lang="en-US" sz="1500" b="1" dirty="0">
                <a:solidFill>
                  <a:srgbClr val="36454F"/>
                </a:solidFill>
                <a:latin typeface="Calibri" pitchFamily="34" charset="0"/>
                <a:ea typeface="Calibri" pitchFamily="34" charset="-122"/>
                <a:cs typeface="Calibri" pitchFamily="34" charset="-120"/>
              </a:rPr>
              <a:t>Lecture : </a:t>
            </a:r>
            <a:pPr algn="l" indent="0" marL="0">
              <a:buNone/>
            </a:pPr>
            <a:r>
              <a:rPr lang="en-US" sz="1500" dirty="0">
                <a:solidFill>
                  <a:srgbClr val="36454F"/>
                </a:solidFill>
                <a:latin typeface="Calibri" pitchFamily="34" charset="0"/>
                <a:ea typeface="Calibri" pitchFamily="34" charset="-122"/>
                <a:cs typeface="Calibri" pitchFamily="34" charset="-120"/>
              </a:rPr>
              <a:t>le contrat est correctement calibré en risque, mais son coût annuel (1,85 %) se situe dans le haut du marché et 25 % de l'encours est investi sur deux fonds qui suivent le même indice. Trois options existent pour l'améliorer sans perdre son antériorité fiscale (slide 5).</a:t>
            </a:r>
            <a:endParaRPr lang="en-US" sz="1500" dirty="0"/>
          </a:p>
        </p:txBody>
      </p:sp>
      <p:sp>
        <p:nvSpPr>
          <p:cNvPr id="16" name="Text 14"/>
          <p:cNvSpPr/>
          <p:nvPr/>
        </p:nvSpPr>
        <p:spPr>
          <a:xfrm>
            <a:off x="457200" y="6473952"/>
            <a:ext cx="11274552" cy="274320"/>
          </a:xfrm>
          <a:prstGeom prst="rect">
            <a:avLst/>
          </a:prstGeom>
          <a:noFill/>
          <a:ln/>
        </p:spPr>
        <p:txBody>
          <a:bodyPr wrap="square" lIns="0" tIns="0" rIns="0" bIns="0" rtlCol="0" anchor="ctr"/>
          <a:lstStyle/>
          <a:p>
            <a:pPr algn="l" indent="0" marL="0">
              <a:buNone/>
            </a:pPr>
            <a:r>
              <a:rPr lang="en-US" sz="900" dirty="0">
                <a:solidFill>
                  <a:srgbClr val="6B7A8A"/>
                </a:solidFill>
                <a:latin typeface="Calibri" pitchFamily="34" charset="0"/>
                <a:ea typeface="Calibri" pitchFamily="34" charset="-122"/>
                <a:cs typeface="Calibri" pitchFamily="34" charset="-120"/>
              </a:rPr>
              <a:t>Cas fictif famille Martin  |  Données au 31/05/2026  |  Document de travail  |  Cabinet Démo Patrimoine (fictif)</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La décomposition des frais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7589520" cy="914400"/>
        </p:xfrm>
        <a:graphic>
          <a:graphicData uri="http://schemas.openxmlformats.org/drawingml/2006/table">
            <a:tbl>
              <a:tblPr/>
              <a:tblGrid>
                <a:gridCol w="3017520"/>
                <a:gridCol w="1417320"/>
                <a:gridCol w="1874520"/>
                <a:gridCol w="128016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Étage de frais</a:t>
                      </a:r>
                      <a:endParaRPr lang="en-US" sz="1200" dirty="0">
                        <a:latin typeface="Calibri" charset="0"/>
                        <a:ea typeface="Calibri" charset="0"/>
                        <a:cs typeface="Calibri" charset="0"/>
                      </a:endParaRPr>
                    </a:p>
                  </a:txBody>
                  <a:tcPr marL="73152" marR="73152" marT="73152" marB="73152"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Taux constaté</a:t>
                      </a:r>
                      <a:endParaRPr lang="en-US" sz="1200" dirty="0">
                        <a:latin typeface="Calibri" charset="0"/>
                        <a:ea typeface="Calibri" charset="0"/>
                        <a:cs typeface="Calibri" charset="0"/>
                      </a:endParaRPr>
                    </a:p>
                  </a:txBody>
                  <a:tcPr marL="73152" marR="73152" marT="73152" marB="73152"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Repère de marché*</a:t>
                      </a:r>
                      <a:endParaRPr lang="en-US" sz="1200" dirty="0">
                        <a:latin typeface="Calibri" charset="0"/>
                        <a:ea typeface="Calibri" charset="0"/>
                        <a:cs typeface="Calibri" charset="0"/>
                      </a:endParaRPr>
                    </a:p>
                  </a:txBody>
                  <a:tcPr marL="73152" marR="73152" marT="73152" marB="73152"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Position</a:t>
                      </a:r>
                      <a:endParaRPr lang="en-US" sz="1200" dirty="0">
                        <a:latin typeface="Calibri" charset="0"/>
                        <a:ea typeface="Calibri" charset="0"/>
                        <a:cs typeface="Calibri" charset="0"/>
                      </a:endParaRPr>
                    </a:p>
                  </a:txBody>
                  <a:tcPr marL="73152" marR="73152" marT="73152" marB="73152"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1E2761"/>
                    </a:solidFill>
                  </a:tcPr>
                </a:tc>
              </a:tr>
              <a:tr h="475488">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Frais sur versement</a:t>
                      </a:r>
                      <a:endParaRPr lang="en-US" sz="1200" dirty="0">
                        <a:latin typeface="Calibri" charset="0"/>
                        <a:ea typeface="Calibri" charset="0"/>
                        <a:cs typeface="Calibri" charset="0"/>
                      </a:endParaRPr>
                    </a:p>
                  </a:txBody>
                  <a:tcPr marL="73152" marR="73152" marT="73152" marB="73152"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3,00 %</a:t>
                      </a:r>
                      <a:endParaRPr lang="en-US" sz="1200" dirty="0">
                        <a:latin typeface="Calibri" charset="0"/>
                        <a:ea typeface="Calibri" charset="0"/>
                        <a:cs typeface="Calibri" charset="0"/>
                      </a:endParaRPr>
                    </a:p>
                  </a:txBody>
                  <a:tcPr marL="73152" marR="73152" marT="73152" marB="73152"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0 à 5 %, négociables</a:t>
                      </a:r>
                      <a:endParaRPr lang="en-US" sz="1200" dirty="0">
                        <a:latin typeface="Calibri" charset="0"/>
                        <a:ea typeface="Calibri" charset="0"/>
                        <a:cs typeface="Calibri" charset="0"/>
                      </a:endParaRPr>
                    </a:p>
                  </a:txBody>
                  <a:tcPr marL="73152" marR="73152" marT="73152" marB="73152"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200" b="1" dirty="0">
                          <a:solidFill>
                            <a:srgbClr val="B85042"/>
                          </a:solidFill>
                          <a:latin typeface="Calibri" pitchFamily="34" charset="0"/>
                          <a:ea typeface="Calibri" pitchFamily="34" charset="-122"/>
                          <a:cs typeface="Calibri" pitchFamily="34" charset="-120"/>
                        </a:rPr>
                        <a:t>Négociable</a:t>
                      </a:r>
                      <a:endParaRPr lang="en-US" sz="1200" dirty="0">
                        <a:latin typeface="Calibri" charset="0"/>
                        <a:ea typeface="Calibri" charset="0"/>
                        <a:cs typeface="Calibri" charset="0"/>
                      </a:endParaRPr>
                    </a:p>
                  </a:txBody>
                  <a:tcPr marL="73152" marR="73152" marT="73152" marB="73152"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Gestion du contrat, fonds euros</a:t>
                      </a:r>
                      <a:endParaRPr lang="en-US" sz="1200" dirty="0">
                        <a:latin typeface="Calibri" charset="0"/>
                        <a:ea typeface="Calibri" charset="0"/>
                        <a:cs typeface="Calibri" charset="0"/>
                      </a:endParaRPr>
                    </a:p>
                  </a:txBody>
                  <a:tcPr marL="73152" marR="73152" marT="73152" marB="73152"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0,80 %/an</a:t>
                      </a:r>
                      <a:endParaRPr lang="en-US" sz="1200" dirty="0">
                        <a:latin typeface="Calibri" charset="0"/>
                        <a:ea typeface="Calibri" charset="0"/>
                        <a:cs typeface="Calibri" charset="0"/>
                      </a:endParaRPr>
                    </a:p>
                  </a:txBody>
                  <a:tcPr marL="73152" marR="73152" marT="73152" marB="73152"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0,6 à 1 %</a:t>
                      </a:r>
                      <a:endParaRPr lang="en-US" sz="1200" dirty="0">
                        <a:latin typeface="Calibri" charset="0"/>
                        <a:ea typeface="Calibri" charset="0"/>
                        <a:cs typeface="Calibri" charset="0"/>
                      </a:endParaRPr>
                    </a:p>
                  </a:txBody>
                  <a:tcPr marL="73152" marR="73152" marT="73152" marB="73152"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200" dirty="0">
                          <a:solidFill>
                            <a:srgbClr val="2C5F2D"/>
                          </a:solidFill>
                          <a:latin typeface="Calibri" pitchFamily="34" charset="0"/>
                          <a:ea typeface="Calibri" pitchFamily="34" charset="-122"/>
                          <a:cs typeface="Calibri" pitchFamily="34" charset="-120"/>
                        </a:rPr>
                        <a:t>Dans le marché</a:t>
                      </a:r>
                      <a:endParaRPr lang="en-US" sz="1200" dirty="0">
                        <a:latin typeface="Calibri" charset="0"/>
                        <a:ea typeface="Calibri" charset="0"/>
                        <a:cs typeface="Calibri" charset="0"/>
                      </a:endParaRPr>
                    </a:p>
                  </a:txBody>
                  <a:tcPr marL="73152" marR="73152" marT="73152" marB="73152"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Gestion du contrat, UC</a:t>
                      </a:r>
                      <a:endParaRPr lang="en-US" sz="1200" dirty="0">
                        <a:latin typeface="Calibri" charset="0"/>
                        <a:ea typeface="Calibri" charset="0"/>
                        <a:cs typeface="Calibri" charset="0"/>
                      </a:endParaRPr>
                    </a:p>
                  </a:txBody>
                  <a:tcPr marL="73152" marR="73152" marT="73152" marB="73152"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0,98 %/an</a:t>
                      </a:r>
                      <a:endParaRPr lang="en-US" sz="1200" dirty="0">
                        <a:latin typeface="Calibri" charset="0"/>
                        <a:ea typeface="Calibri" charset="0"/>
                        <a:cs typeface="Calibri" charset="0"/>
                      </a:endParaRPr>
                    </a:p>
                  </a:txBody>
                  <a:tcPr marL="73152" marR="73152" marT="73152" marB="73152"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0,5 à 1 %</a:t>
                      </a:r>
                      <a:endParaRPr lang="en-US" sz="1200" dirty="0">
                        <a:latin typeface="Calibri" charset="0"/>
                        <a:ea typeface="Calibri" charset="0"/>
                        <a:cs typeface="Calibri" charset="0"/>
                      </a:endParaRPr>
                    </a:p>
                  </a:txBody>
                  <a:tcPr marL="73152" marR="73152" marT="73152" marB="73152"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200" b="1" dirty="0">
                          <a:solidFill>
                            <a:srgbClr val="B85042"/>
                          </a:solidFill>
                          <a:latin typeface="Calibri" pitchFamily="34" charset="0"/>
                          <a:ea typeface="Calibri" pitchFamily="34" charset="-122"/>
                          <a:cs typeface="Calibri" pitchFamily="34" charset="-120"/>
                        </a:rPr>
                        <a:t>Haut de fourchette</a:t>
                      </a:r>
                      <a:endParaRPr lang="en-US" sz="1200" dirty="0">
                        <a:latin typeface="Calibri" charset="0"/>
                        <a:ea typeface="Calibri" charset="0"/>
                        <a:cs typeface="Calibri" charset="0"/>
                      </a:endParaRPr>
                    </a:p>
                  </a:txBody>
                  <a:tcPr marL="73152" marR="73152" marT="73152" marB="73152"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Frais courants des supports (moyenne pondérée)</a:t>
                      </a:r>
                      <a:endParaRPr lang="en-US" sz="1200" dirty="0">
                        <a:latin typeface="Calibri" charset="0"/>
                        <a:ea typeface="Calibri" charset="0"/>
                        <a:cs typeface="Calibri" charset="0"/>
                      </a:endParaRPr>
                    </a:p>
                  </a:txBody>
                  <a:tcPr marL="73152" marR="73152" marT="73152" marB="73152"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1,72 %/an</a:t>
                      </a:r>
                      <a:endParaRPr lang="en-US" sz="1200" dirty="0">
                        <a:latin typeface="Calibri" charset="0"/>
                        <a:ea typeface="Calibri" charset="0"/>
                        <a:cs typeface="Calibri" charset="0"/>
                      </a:endParaRPr>
                    </a:p>
                  </a:txBody>
                  <a:tcPr marL="73152" marR="73152" marT="73152" marB="73152"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0,2 % (ETF) à 2,5 %</a:t>
                      </a:r>
                      <a:endParaRPr lang="en-US" sz="1200" dirty="0">
                        <a:latin typeface="Calibri" charset="0"/>
                        <a:ea typeface="Calibri" charset="0"/>
                        <a:cs typeface="Calibri" charset="0"/>
                      </a:endParaRPr>
                    </a:p>
                  </a:txBody>
                  <a:tcPr marL="73152" marR="73152" marT="73152" marB="73152"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200" b="1" dirty="0">
                          <a:solidFill>
                            <a:srgbClr val="B85042"/>
                          </a:solidFill>
                          <a:latin typeface="Calibri" pitchFamily="34" charset="0"/>
                          <a:ea typeface="Calibri" pitchFamily="34" charset="-122"/>
                          <a:cs typeface="Calibri" pitchFamily="34" charset="-120"/>
                        </a:rPr>
                        <a:t>Gestion active chargée</a:t>
                      </a:r>
                      <a:endParaRPr lang="en-US" sz="1200" dirty="0">
                        <a:latin typeface="Calibri" charset="0"/>
                        <a:ea typeface="Calibri" charset="0"/>
                        <a:cs typeface="Calibri" charset="0"/>
                      </a:endParaRPr>
                    </a:p>
                  </a:txBody>
                  <a:tcPr marL="73152" marR="73152" marT="73152" marB="73152"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Arbitrage</a:t>
                      </a:r>
                      <a:endParaRPr lang="en-US" sz="1200" dirty="0">
                        <a:latin typeface="Calibri" charset="0"/>
                        <a:ea typeface="Calibri" charset="0"/>
                        <a:cs typeface="Calibri" charset="0"/>
                      </a:endParaRPr>
                    </a:p>
                  </a:txBody>
                  <a:tcPr marL="73152" marR="73152" marT="73152" marB="73152"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0,50 %/opération</a:t>
                      </a:r>
                      <a:endParaRPr lang="en-US" sz="1200" dirty="0">
                        <a:latin typeface="Calibri" charset="0"/>
                        <a:ea typeface="Calibri" charset="0"/>
                        <a:cs typeface="Calibri" charset="0"/>
                      </a:endParaRPr>
                    </a:p>
                  </a:txBody>
                  <a:tcPr marL="73152" marR="73152" marT="73152" marB="73152"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Variable, souvent offert en ligne</a:t>
                      </a:r>
                      <a:endParaRPr lang="en-US" sz="1200" dirty="0">
                        <a:latin typeface="Calibri" charset="0"/>
                        <a:ea typeface="Calibri" charset="0"/>
                        <a:cs typeface="Calibri" charset="0"/>
                      </a:endParaRPr>
                    </a:p>
                  </a:txBody>
                  <a:tcPr marL="73152" marR="73152" marT="73152" marB="73152"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200" dirty="0">
                          <a:solidFill>
                            <a:srgbClr val="B85042"/>
                          </a:solidFill>
                          <a:latin typeface="Calibri" pitchFamily="34" charset="0"/>
                          <a:ea typeface="Calibri" pitchFamily="34" charset="-122"/>
                          <a:cs typeface="Calibri" pitchFamily="34" charset="-120"/>
                        </a:rPr>
                        <a:t>À négocier</a:t>
                      </a:r>
                      <a:endParaRPr lang="en-US" sz="1200" dirty="0">
                        <a:latin typeface="Calibri" charset="0"/>
                        <a:ea typeface="Calibri" charset="0"/>
                        <a:cs typeface="Calibri" charset="0"/>
                      </a:endParaRPr>
                    </a:p>
                  </a:txBody>
                  <a:tcPr marL="73152" marR="73152" marT="73152" marB="73152"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r>
            </a:tbl>
          </a:graphicData>
        </a:graphic>
      </p:graphicFrame>
      <p:sp>
        <p:nvSpPr>
          <p:cNvPr id="4" name="Shape 1"/>
          <p:cNvSpPr/>
          <p:nvPr/>
        </p:nvSpPr>
        <p:spPr>
          <a:xfrm>
            <a:off x="8321040" y="1280160"/>
            <a:ext cx="3383280" cy="3931920"/>
          </a:xfrm>
          <a:prstGeom prst="roundRect">
            <a:avLst>
              <a:gd name="adj" fmla="val 2162"/>
            </a:avLst>
          </a:prstGeom>
          <a:solidFill>
            <a:srgbClr val="1E2761"/>
          </a:solidFill>
          <a:ln/>
        </p:spPr>
      </p:sp>
      <p:sp>
        <p:nvSpPr>
          <p:cNvPr id="5" name="Text 2"/>
          <p:cNvSpPr/>
          <p:nvPr/>
        </p:nvSpPr>
        <p:spPr>
          <a:xfrm>
            <a:off x="8549640" y="1554480"/>
            <a:ext cx="2926080" cy="365760"/>
          </a:xfrm>
          <a:prstGeom prst="rect">
            <a:avLst/>
          </a:prstGeom>
          <a:noFill/>
          <a:ln/>
        </p:spPr>
        <p:txBody>
          <a:bodyPr wrap="square" lIns="0" tIns="0" rIns="0" bIns="0" rtlCol="0" anchor="ctr"/>
          <a:lstStyle/>
          <a:p>
            <a:pPr indent="0" marL="0">
              <a:buNone/>
            </a:pPr>
            <a:r>
              <a:rPr lang="en-US" sz="1500" b="1" dirty="0">
                <a:solidFill>
                  <a:srgbClr val="CADCFC"/>
                </a:solidFill>
                <a:latin typeface="Calibri" pitchFamily="34" charset="0"/>
                <a:ea typeface="Calibri" pitchFamily="34" charset="-122"/>
                <a:cs typeface="Calibri" pitchFamily="34" charset="-120"/>
              </a:rPr>
              <a:t>Coût total annuel</a:t>
            </a:r>
            <a:endParaRPr lang="en-US" sz="1500" dirty="0"/>
          </a:p>
        </p:txBody>
      </p:sp>
      <p:sp>
        <p:nvSpPr>
          <p:cNvPr id="6" name="Text 3"/>
          <p:cNvSpPr/>
          <p:nvPr/>
        </p:nvSpPr>
        <p:spPr>
          <a:xfrm>
            <a:off x="8549640" y="1965960"/>
            <a:ext cx="292608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 6 400 €</a:t>
            </a:r>
            <a:endParaRPr lang="en-US" sz="4400" dirty="0"/>
          </a:p>
        </p:txBody>
      </p:sp>
      <p:sp>
        <p:nvSpPr>
          <p:cNvPr id="7" name="Text 4"/>
          <p:cNvSpPr/>
          <p:nvPr/>
        </p:nvSpPr>
        <p:spPr>
          <a:xfrm>
            <a:off x="8549640" y="2788920"/>
            <a:ext cx="2926080" cy="64008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par an, hors arbitrages,</a:t>
            </a: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sur un encours de 348 500 €</a:t>
            </a:r>
            <a:endParaRPr lang="en-US" sz="1200" dirty="0"/>
          </a:p>
        </p:txBody>
      </p:sp>
      <p:sp>
        <p:nvSpPr>
          <p:cNvPr id="8" name="Text 5"/>
          <p:cNvSpPr/>
          <p:nvPr/>
        </p:nvSpPr>
        <p:spPr>
          <a:xfrm>
            <a:off x="8549640" y="3566160"/>
            <a:ext cx="2926080" cy="146304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Le calcul, vérifiable :</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Fonds euros : 45 % x 0,80 % = 0,36 %</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UC : 55 % x (0,98 % + 1,72 %) = 1,49 %</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Total : 1,85 % x 348 500 €</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6 447 € / an</a:t>
            </a:r>
            <a:endParaRPr lang="en-US" sz="1150" dirty="0"/>
          </a:p>
        </p:txBody>
      </p:sp>
      <p:sp>
        <p:nvSpPr>
          <p:cNvPr id="9" name="Text 6"/>
          <p:cNvSpPr/>
          <p:nvPr/>
        </p:nvSpPr>
        <p:spPr>
          <a:xfrm>
            <a:off x="457200" y="5440680"/>
            <a:ext cx="11274552" cy="822960"/>
          </a:xfrm>
          <a:prstGeom prst="rect">
            <a:avLst/>
          </a:prstGeom>
          <a:noFill/>
          <a:ln/>
        </p:spPr>
        <p:txBody>
          <a:bodyPr wrap="square" lIns="0" tIns="0" rIns="0" bIns="0" rtlCol="0" anchor="ctr"/>
          <a:lstStyle/>
          <a:p>
            <a:pPr indent="0" marL="0">
              <a:buNone/>
            </a:pPr>
            <a:r>
              <a:rPr lang="en-US" sz="1350" b="1" dirty="0">
                <a:solidFill>
                  <a:srgbClr val="36454F"/>
                </a:solidFill>
                <a:latin typeface="Calibri" pitchFamily="34" charset="0"/>
                <a:ea typeface="Calibri" pitchFamily="34" charset="-122"/>
                <a:cs typeface="Calibri" pitchFamily="34" charset="-120"/>
              </a:rPr>
              <a:t>Observation : </a:t>
            </a:r>
            <a:pPr indent="0" marL="0">
              <a:buNone/>
            </a:pPr>
            <a:r>
              <a:rPr lang="en-US" sz="1350" dirty="0">
                <a:solidFill>
                  <a:srgbClr val="36454F"/>
                </a:solidFill>
                <a:latin typeface="Calibri" pitchFamily="34" charset="0"/>
                <a:ea typeface="Calibri" pitchFamily="34" charset="-122"/>
                <a:cs typeface="Calibri" pitchFamily="34" charset="-120"/>
              </a:rPr>
              <a:t>chaque euro investi en unités de compte supporte 2,70 % de frais annuels cumulés avant toute performance. </a:t>
            </a:r>
            <a:pPr indent="0" marL="0">
              <a:buNone/>
            </a:pPr>
            <a:r>
              <a:rPr lang="en-US" sz="1350" b="1" dirty="0">
                <a:solidFill>
                  <a:srgbClr val="36454F"/>
                </a:solidFill>
                <a:latin typeface="Calibri" pitchFamily="34" charset="0"/>
                <a:ea typeface="Calibri" pitchFamily="34" charset="-122"/>
                <a:cs typeface="Calibri" pitchFamily="34" charset="-120"/>
              </a:rPr>
              <a:t>Point à explorer : </a:t>
            </a:r>
            <a:pPr indent="0" marL="0">
              <a:buNone/>
            </a:pPr>
            <a:r>
              <a:rPr lang="en-US" sz="1350" dirty="0">
                <a:solidFill>
                  <a:srgbClr val="36454F"/>
                </a:solidFill>
                <a:latin typeface="Calibri" pitchFamily="34" charset="0"/>
                <a:ea typeface="Calibri" pitchFamily="34" charset="-122"/>
                <a:cs typeface="Calibri" pitchFamily="34" charset="-120"/>
              </a:rPr>
              <a:t>la négociation des frais sur versement et le recours à des supports indiciels moins chargés, à l'intérieur du même contrat.</a:t>
            </a:r>
            <a:endParaRPr lang="en-US" sz="1350" dirty="0"/>
          </a:p>
        </p:txBody>
      </p:sp>
      <p:sp>
        <p:nvSpPr>
          <p:cNvPr id="10" name="Text 7"/>
          <p:cNvSpPr/>
          <p:nvPr/>
        </p:nvSpPr>
        <p:spPr>
          <a:xfrm>
            <a:off x="457200" y="6199632"/>
            <a:ext cx="11274552" cy="256032"/>
          </a:xfrm>
          <a:prstGeom prst="rect">
            <a:avLst/>
          </a:prstGeom>
          <a:noFill/>
          <a:ln/>
        </p:spPr>
        <p:txBody>
          <a:bodyPr wrap="square" lIns="0" tIns="0" rIns="0" bIns="0" rtlCol="0" anchor="ctr"/>
          <a:lstStyle/>
          <a:p>
            <a:pPr indent="0" marL="0">
              <a:buNone/>
            </a:pPr>
            <a:r>
              <a:rPr lang="en-US" sz="950" i="1" dirty="0">
                <a:solidFill>
                  <a:srgbClr val="6B7A8A"/>
                </a:solidFill>
                <a:latin typeface="Calibri" pitchFamily="34" charset="0"/>
                <a:ea typeface="Calibri" pitchFamily="34" charset="-122"/>
                <a:cs typeface="Calibri" pitchFamily="34" charset="-120"/>
              </a:rPr>
              <a:t>* Repères indicatifs constatés sur le marché français, à vérifier à la date de l'audit.</a:t>
            </a:r>
            <a:endParaRPr lang="en-US" sz="950" dirty="0"/>
          </a:p>
        </p:txBody>
      </p:sp>
      <p:sp>
        <p:nvSpPr>
          <p:cNvPr id="11" name="Text 8"/>
          <p:cNvSpPr/>
          <p:nvPr/>
        </p:nvSpPr>
        <p:spPr>
          <a:xfrm>
            <a:off x="457200" y="6473952"/>
            <a:ext cx="11274552" cy="274320"/>
          </a:xfrm>
          <a:prstGeom prst="rect">
            <a:avLst/>
          </a:prstGeom>
          <a:noFill/>
          <a:ln/>
        </p:spPr>
        <p:txBody>
          <a:bodyPr wrap="square" lIns="0" tIns="0" rIns="0" bIns="0" rtlCol="0" anchor="ctr"/>
          <a:lstStyle/>
          <a:p>
            <a:pPr algn="l" indent="0" marL="0">
              <a:buNone/>
            </a:pPr>
            <a:r>
              <a:rPr lang="en-US" sz="900" dirty="0">
                <a:solidFill>
                  <a:srgbClr val="6B7A8A"/>
                </a:solidFill>
                <a:latin typeface="Calibri" pitchFamily="34" charset="0"/>
                <a:ea typeface="Calibri" pitchFamily="34" charset="-122"/>
                <a:cs typeface="Calibri" pitchFamily="34" charset="-120"/>
              </a:rPr>
              <a:t>Cas fictif famille Martin  |  Données au 31/05/2026  |  Document de travail  |  Cabinet Démo Patrimoine (fictif)</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Votre allocation actuelle</a:t>
            </a:r>
            <a:endParaRPr lang="en-US" sz="3000" dirty="0"/>
          </a:p>
        </p:txBody>
      </p:sp>
      <p:graphicFrame>
        <p:nvGraphicFramePr>
          <p:cNvPr id="3" name="Chart 0" descr=""/>
          <p:cNvGraphicFramePr/>
          <p:nvPr/>
        </p:nvGraphicFramePr>
        <p:xfrm>
          <a:off x="365760" y="1325880"/>
          <a:ext cx="5120640" cy="475488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5852160" y="1234440"/>
            <a:ext cx="5852160" cy="1481328"/>
          </a:xfrm>
          <a:prstGeom prst="roundRect">
            <a:avLst>
              <a:gd name="adj" fmla="val 3704"/>
            </a:avLst>
          </a:prstGeom>
          <a:solidFill>
            <a:srgbClr val="F2F5FA"/>
          </a:solidFill>
          <a:ln/>
        </p:spPr>
      </p:sp>
      <p:sp>
        <p:nvSpPr>
          <p:cNvPr id="5" name="Text 2"/>
          <p:cNvSpPr/>
          <p:nvPr/>
        </p:nvSpPr>
        <p:spPr>
          <a:xfrm>
            <a:off x="6080760" y="1325880"/>
            <a:ext cx="5440680" cy="32004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Doublon détecté</a:t>
            </a:r>
            <a:endParaRPr lang="en-US" sz="1450" dirty="0"/>
          </a:p>
        </p:txBody>
      </p:sp>
      <p:sp>
        <p:nvSpPr>
          <p:cNvPr id="6" name="Text 3"/>
          <p:cNvSpPr/>
          <p:nvPr/>
        </p:nvSpPr>
        <p:spPr>
          <a:xfrm>
            <a:off x="6080760" y="1645920"/>
            <a:ext cx="5440680" cy="685800"/>
          </a:xfrm>
          <a:prstGeom prst="rect">
            <a:avLst/>
          </a:prstGeom>
          <a:noFill/>
          <a:ln/>
        </p:spPr>
        <p:txBody>
          <a:bodyPr wrap="square" lIns="0" tIns="0" rIns="0" bIns="0" rtlCol="0" anchor="ctr"/>
          <a:lstStyle/>
          <a:p>
            <a:pPr indent="0" marL="0">
              <a:buNone/>
            </a:pPr>
            <a:r>
              <a:rPr lang="en-US" sz="1200" dirty="0">
                <a:solidFill>
                  <a:srgbClr val="36454F"/>
                </a:solidFill>
                <a:latin typeface="Calibri" pitchFamily="34" charset="0"/>
                <a:ea typeface="Calibri" pitchFamily="34" charset="-122"/>
                <a:cs typeface="Calibri" pitchFamily="34" charset="-120"/>
              </a:rPr>
              <a:t>Les fonds Actions monde A et B répliquent le même indice : 25 % de l'encours sur une seule exposition, avec deux couches de frais.</a:t>
            </a:r>
            <a:endParaRPr lang="en-US" sz="1200" dirty="0"/>
          </a:p>
        </p:txBody>
      </p:sp>
      <p:sp>
        <p:nvSpPr>
          <p:cNvPr id="7" name="Text 4"/>
          <p:cNvSpPr/>
          <p:nvPr/>
        </p:nvSpPr>
        <p:spPr>
          <a:xfrm>
            <a:off x="6080760" y="2331720"/>
            <a:ext cx="5440680" cy="320040"/>
          </a:xfrm>
          <a:prstGeom prst="rect">
            <a:avLst/>
          </a:prstGeom>
          <a:noFill/>
          <a:ln/>
        </p:spPr>
        <p:txBody>
          <a:bodyPr wrap="square" lIns="0" tIns="0" rIns="0" bIns="0" rtlCol="0" anchor="ctr"/>
          <a:lstStyle/>
          <a:p>
            <a:pPr indent="0" marL="0">
              <a:buNone/>
            </a:pPr>
            <a:r>
              <a:rPr lang="en-US" sz="1150" i="1" dirty="0">
                <a:solidFill>
                  <a:srgbClr val="6B7A8A"/>
                </a:solidFill>
                <a:latin typeface="Calibri" pitchFamily="34" charset="0"/>
                <a:ea typeface="Calibri" pitchFamily="34" charset="-122"/>
                <a:cs typeface="Calibri" pitchFamily="34" charset="-120"/>
              </a:rPr>
              <a:t>Point à explorer : conserver un seul des deux supports ?</a:t>
            </a:r>
            <a:endParaRPr lang="en-US" sz="1150" dirty="0"/>
          </a:p>
        </p:txBody>
      </p:sp>
      <p:sp>
        <p:nvSpPr>
          <p:cNvPr id="8" name="Shape 5"/>
          <p:cNvSpPr/>
          <p:nvPr/>
        </p:nvSpPr>
        <p:spPr>
          <a:xfrm>
            <a:off x="5852160" y="2862072"/>
            <a:ext cx="5852160" cy="1481328"/>
          </a:xfrm>
          <a:prstGeom prst="roundRect">
            <a:avLst>
              <a:gd name="adj" fmla="val 3704"/>
            </a:avLst>
          </a:prstGeom>
          <a:solidFill>
            <a:srgbClr val="F2F5FA"/>
          </a:solidFill>
          <a:ln/>
        </p:spPr>
      </p:sp>
      <p:sp>
        <p:nvSpPr>
          <p:cNvPr id="9" name="Text 6"/>
          <p:cNvSpPr/>
          <p:nvPr/>
        </p:nvSpPr>
        <p:spPr>
          <a:xfrm>
            <a:off x="6080760" y="2953512"/>
            <a:ext cx="5440680" cy="32004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45 % de fonds euros pour un horizon de 8 ans</a:t>
            </a:r>
            <a:endParaRPr lang="en-US" sz="1450" dirty="0"/>
          </a:p>
        </p:txBody>
      </p:sp>
      <p:sp>
        <p:nvSpPr>
          <p:cNvPr id="10" name="Text 7"/>
          <p:cNvSpPr/>
          <p:nvPr/>
        </p:nvSpPr>
        <p:spPr>
          <a:xfrm>
            <a:off x="6080760" y="3273552"/>
            <a:ext cx="5440680" cy="685800"/>
          </a:xfrm>
          <a:prstGeom prst="rect">
            <a:avLst/>
          </a:prstGeom>
          <a:noFill/>
          <a:ln/>
        </p:spPr>
        <p:txBody>
          <a:bodyPr wrap="square" lIns="0" tIns="0" rIns="0" bIns="0" rtlCol="0" anchor="ctr"/>
          <a:lstStyle/>
          <a:p>
            <a:pPr indent="0" marL="0">
              <a:buNone/>
            </a:pPr>
            <a:r>
              <a:rPr lang="en-US" sz="1200" dirty="0">
                <a:solidFill>
                  <a:srgbClr val="36454F"/>
                </a:solidFill>
                <a:latin typeface="Calibri" pitchFamily="34" charset="0"/>
                <a:ea typeface="Calibri" pitchFamily="34" charset="-122"/>
                <a:cs typeface="Calibri" pitchFamily="34" charset="-120"/>
              </a:rPr>
              <a:t>Le fonds euros protège le capital mais rapporte peu. Sur 8 ans, cette poche pèse sur le potentiel du contrat.</a:t>
            </a:r>
            <a:endParaRPr lang="en-US" sz="1200" dirty="0"/>
          </a:p>
        </p:txBody>
      </p:sp>
      <p:sp>
        <p:nvSpPr>
          <p:cNvPr id="11" name="Text 8"/>
          <p:cNvSpPr/>
          <p:nvPr/>
        </p:nvSpPr>
        <p:spPr>
          <a:xfrm>
            <a:off x="6080760" y="3959352"/>
            <a:ext cx="5440680" cy="320040"/>
          </a:xfrm>
          <a:prstGeom prst="rect">
            <a:avLst/>
          </a:prstGeom>
          <a:noFill/>
          <a:ln/>
        </p:spPr>
        <p:txBody>
          <a:bodyPr wrap="square" lIns="0" tIns="0" rIns="0" bIns="0" rtlCol="0" anchor="ctr"/>
          <a:lstStyle/>
          <a:p>
            <a:pPr indent="0" marL="0">
              <a:buNone/>
            </a:pPr>
            <a:r>
              <a:rPr lang="en-US" sz="1150" i="1" dirty="0">
                <a:solidFill>
                  <a:srgbClr val="6B7A8A"/>
                </a:solidFill>
                <a:latin typeface="Calibri" pitchFamily="34" charset="0"/>
                <a:ea typeface="Calibri" pitchFamily="34" charset="-122"/>
                <a:cs typeface="Calibri" pitchFamily="34" charset="-120"/>
              </a:rPr>
              <a:t>Point à explorer : le besoin réel de sécurité à cet horizon.</a:t>
            </a:r>
            <a:endParaRPr lang="en-US" sz="1150" dirty="0"/>
          </a:p>
        </p:txBody>
      </p:sp>
      <p:sp>
        <p:nvSpPr>
          <p:cNvPr id="12" name="Shape 9"/>
          <p:cNvSpPr/>
          <p:nvPr/>
        </p:nvSpPr>
        <p:spPr>
          <a:xfrm>
            <a:off x="5852160" y="4489704"/>
            <a:ext cx="5852160" cy="1481328"/>
          </a:xfrm>
          <a:prstGeom prst="roundRect">
            <a:avLst>
              <a:gd name="adj" fmla="val 3704"/>
            </a:avLst>
          </a:prstGeom>
          <a:solidFill>
            <a:srgbClr val="F2F5FA"/>
          </a:solidFill>
          <a:ln/>
        </p:spPr>
      </p:sp>
      <p:sp>
        <p:nvSpPr>
          <p:cNvPr id="13" name="Text 10"/>
          <p:cNvSpPr/>
          <p:nvPr/>
        </p:nvSpPr>
        <p:spPr>
          <a:xfrm>
            <a:off x="6080760" y="4581144"/>
            <a:ext cx="5440680" cy="32004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Risque global cohérent</a:t>
            </a:r>
            <a:endParaRPr lang="en-US" sz="1450" dirty="0"/>
          </a:p>
        </p:txBody>
      </p:sp>
      <p:sp>
        <p:nvSpPr>
          <p:cNvPr id="14" name="Text 11"/>
          <p:cNvSpPr/>
          <p:nvPr/>
        </p:nvSpPr>
        <p:spPr>
          <a:xfrm>
            <a:off x="6080760" y="4901184"/>
            <a:ext cx="5440680" cy="685800"/>
          </a:xfrm>
          <a:prstGeom prst="rect">
            <a:avLst/>
          </a:prstGeom>
          <a:noFill/>
          <a:ln/>
        </p:spPr>
        <p:txBody>
          <a:bodyPr wrap="square" lIns="0" tIns="0" rIns="0" bIns="0" rtlCol="0" anchor="ctr"/>
          <a:lstStyle/>
          <a:p>
            <a:pPr indent="0" marL="0">
              <a:buNone/>
            </a:pPr>
            <a:r>
              <a:rPr lang="en-US" sz="1200" dirty="0">
                <a:solidFill>
                  <a:srgbClr val="36454F"/>
                </a:solidFill>
                <a:latin typeface="Calibri" pitchFamily="34" charset="0"/>
                <a:ea typeface="Calibri" pitchFamily="34" charset="-122"/>
                <a:cs typeface="Calibri" pitchFamily="34" charset="-120"/>
              </a:rPr>
              <a:t>SRI moyen pondéré de 3,4 sur 7 : compatible avec le profil équilibré déclaré et l'horizon de 8 ans.</a:t>
            </a:r>
            <a:endParaRPr lang="en-US" sz="1200" dirty="0"/>
          </a:p>
        </p:txBody>
      </p:sp>
      <p:sp>
        <p:nvSpPr>
          <p:cNvPr id="15" name="Text 12"/>
          <p:cNvSpPr/>
          <p:nvPr/>
        </p:nvSpPr>
        <p:spPr>
          <a:xfrm>
            <a:off x="6080760" y="5586984"/>
            <a:ext cx="5440680" cy="320040"/>
          </a:xfrm>
          <a:prstGeom prst="rect">
            <a:avLst/>
          </a:prstGeom>
          <a:noFill/>
          <a:ln/>
        </p:spPr>
        <p:txBody>
          <a:bodyPr wrap="square" lIns="0" tIns="0" rIns="0" bIns="0" rtlCol="0" anchor="ctr"/>
          <a:lstStyle/>
          <a:p>
            <a:pPr indent="0" marL="0">
              <a:buNone/>
            </a:pPr>
            <a:r>
              <a:rPr lang="en-US" sz="1150" i="1" dirty="0">
                <a:solidFill>
                  <a:srgbClr val="6B7A8A"/>
                </a:solidFill>
                <a:latin typeface="Calibri" pitchFamily="34" charset="0"/>
                <a:ea typeface="Calibri" pitchFamily="34" charset="-122"/>
                <a:cs typeface="Calibri" pitchFamily="34" charset="-120"/>
              </a:rPr>
              <a:t>À revérifier après tout arbitrage.</a:t>
            </a:r>
            <a:endParaRPr lang="en-US" sz="1150" dirty="0"/>
          </a:p>
        </p:txBody>
      </p:sp>
      <p:sp>
        <p:nvSpPr>
          <p:cNvPr id="16" name="Text 13"/>
          <p:cNvSpPr/>
          <p:nvPr/>
        </p:nvSpPr>
        <p:spPr>
          <a:xfrm>
            <a:off x="457200" y="6473952"/>
            <a:ext cx="11274552" cy="274320"/>
          </a:xfrm>
          <a:prstGeom prst="rect">
            <a:avLst/>
          </a:prstGeom>
          <a:noFill/>
          <a:ln/>
        </p:spPr>
        <p:txBody>
          <a:bodyPr wrap="square" lIns="0" tIns="0" rIns="0" bIns="0" rtlCol="0" anchor="ctr"/>
          <a:lstStyle/>
          <a:p>
            <a:pPr algn="l" indent="0" marL="0">
              <a:buNone/>
            </a:pPr>
            <a:r>
              <a:rPr lang="en-US" sz="900" dirty="0">
                <a:solidFill>
                  <a:srgbClr val="6B7A8A"/>
                </a:solidFill>
                <a:latin typeface="Calibri" pitchFamily="34" charset="0"/>
                <a:ea typeface="Calibri" pitchFamily="34" charset="-122"/>
                <a:cs typeface="Calibri" pitchFamily="34" charset="-120"/>
              </a:rPr>
              <a:t>Cas fictif famille Martin  |  Données au 31/05/2026  |  Document de travail  |  Cabinet Démo Patrimoine (fictif)</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Les options possibles, sans rien trancher</a:t>
            </a:r>
            <a:endParaRPr lang="en-US" sz="3000" dirty="0"/>
          </a:p>
        </p:txBody>
      </p:sp>
      <p:sp>
        <p:nvSpPr>
          <p:cNvPr id="3" name="Shape 1"/>
          <p:cNvSpPr/>
          <p:nvPr/>
        </p:nvSpPr>
        <p:spPr>
          <a:xfrm>
            <a:off x="457200" y="1280160"/>
            <a:ext cx="5440680" cy="1536192"/>
          </a:xfrm>
          <a:prstGeom prst="roundRect">
            <a:avLst>
              <a:gd name="adj" fmla="val 3571"/>
            </a:avLst>
          </a:prstGeom>
          <a:solidFill>
            <a:srgbClr val="F2F5FA"/>
          </a:solidFill>
          <a:ln/>
        </p:spPr>
      </p:sp>
      <p:sp>
        <p:nvSpPr>
          <p:cNvPr id="4" name="Text 2"/>
          <p:cNvSpPr/>
          <p:nvPr/>
        </p:nvSpPr>
        <p:spPr>
          <a:xfrm>
            <a:off x="685800" y="1389888"/>
            <a:ext cx="4983480" cy="365760"/>
          </a:xfrm>
          <a:prstGeom prst="rect">
            <a:avLst/>
          </a:prstGeom>
          <a:noFill/>
          <a:ln/>
        </p:spPr>
        <p:txBody>
          <a:bodyPr wrap="square" lIns="0" tIns="0" rIns="0" bIns="0" rtlCol="0" anchor="ctr"/>
          <a:lstStyle/>
          <a:p>
            <a:pPr indent="0" marL="0">
              <a:buNone/>
            </a:pPr>
            <a:r>
              <a:rPr lang="en-US" sz="1550" b="1" dirty="0">
                <a:solidFill>
                  <a:srgbClr val="1E2761"/>
                </a:solidFill>
                <a:latin typeface="Calibri" pitchFamily="34" charset="0"/>
                <a:ea typeface="Calibri" pitchFamily="34" charset="-122"/>
                <a:cs typeface="Calibri" pitchFamily="34" charset="-120"/>
              </a:rPr>
              <a:t>1. Conserver en l'état</a:t>
            </a:r>
            <a:endParaRPr lang="en-US" sz="1550" dirty="0"/>
          </a:p>
        </p:txBody>
      </p:sp>
      <p:sp>
        <p:nvSpPr>
          <p:cNvPr id="5" name="Text 3"/>
          <p:cNvSpPr/>
          <p:nvPr/>
        </p:nvSpPr>
        <p:spPr>
          <a:xfrm>
            <a:off x="685800" y="1783080"/>
            <a:ext cx="4983480" cy="914400"/>
          </a:xfrm>
          <a:prstGeom prst="rect">
            <a:avLst/>
          </a:prstGeom>
          <a:noFill/>
          <a:ln/>
        </p:spPr>
        <p:txBody>
          <a:bodyPr wrap="square" lIns="0" tIns="0" rIns="0" bIns="0" rtlCol="0" anchor="ctr"/>
          <a:lstStyle/>
          <a:p>
            <a:pPr indent="0" marL="0">
              <a:buNone/>
            </a:pPr>
            <a:r>
              <a:rPr lang="en-US" sz="1250" dirty="0">
                <a:solidFill>
                  <a:srgbClr val="36454F"/>
                </a:solidFill>
                <a:latin typeface="Calibri" pitchFamily="34" charset="0"/>
                <a:ea typeface="Calibri" pitchFamily="34" charset="-122"/>
                <a:cs typeface="Calibri" pitchFamily="34" charset="-120"/>
              </a:rPr>
              <a:t>Aucun frais nouveau. Le coût annuel de 1,85 % (~6 400 €) et le doublon demeurent.</a:t>
            </a:r>
            <a:endParaRPr lang="en-US" sz="1250" dirty="0"/>
          </a:p>
        </p:txBody>
      </p:sp>
      <p:sp>
        <p:nvSpPr>
          <p:cNvPr id="6" name="Shape 4"/>
          <p:cNvSpPr/>
          <p:nvPr/>
        </p:nvSpPr>
        <p:spPr>
          <a:xfrm>
            <a:off x="6126480" y="1280160"/>
            <a:ext cx="5440680" cy="1536192"/>
          </a:xfrm>
          <a:prstGeom prst="roundRect">
            <a:avLst>
              <a:gd name="adj" fmla="val 3571"/>
            </a:avLst>
          </a:prstGeom>
          <a:solidFill>
            <a:srgbClr val="F2F5FA"/>
          </a:solidFill>
          <a:ln/>
        </p:spPr>
      </p:sp>
      <p:sp>
        <p:nvSpPr>
          <p:cNvPr id="7" name="Text 5"/>
          <p:cNvSpPr/>
          <p:nvPr/>
        </p:nvSpPr>
        <p:spPr>
          <a:xfrm>
            <a:off x="6355080" y="1389888"/>
            <a:ext cx="4983480" cy="365760"/>
          </a:xfrm>
          <a:prstGeom prst="rect">
            <a:avLst/>
          </a:prstGeom>
          <a:noFill/>
          <a:ln/>
        </p:spPr>
        <p:txBody>
          <a:bodyPr wrap="square" lIns="0" tIns="0" rIns="0" bIns="0" rtlCol="0" anchor="ctr"/>
          <a:lstStyle/>
          <a:p>
            <a:pPr indent="0" marL="0">
              <a:buNone/>
            </a:pPr>
            <a:r>
              <a:rPr lang="en-US" sz="1550" b="1" dirty="0">
                <a:solidFill>
                  <a:srgbClr val="1E2761"/>
                </a:solidFill>
                <a:latin typeface="Calibri" pitchFamily="34" charset="0"/>
                <a:ea typeface="Calibri" pitchFamily="34" charset="-122"/>
                <a:cs typeface="Calibri" pitchFamily="34" charset="-120"/>
              </a:rPr>
              <a:t>2. Arbitrer à l'intérieur du contrat</a:t>
            </a:r>
            <a:endParaRPr lang="en-US" sz="1550" dirty="0"/>
          </a:p>
        </p:txBody>
      </p:sp>
      <p:sp>
        <p:nvSpPr>
          <p:cNvPr id="8" name="Text 6"/>
          <p:cNvSpPr/>
          <p:nvPr/>
        </p:nvSpPr>
        <p:spPr>
          <a:xfrm>
            <a:off x="6355080" y="1783080"/>
            <a:ext cx="4983480" cy="914400"/>
          </a:xfrm>
          <a:prstGeom prst="rect">
            <a:avLst/>
          </a:prstGeom>
          <a:noFill/>
          <a:ln/>
        </p:spPr>
        <p:txBody>
          <a:bodyPr wrap="square" lIns="0" tIns="0" rIns="0" bIns="0" rtlCol="0" anchor="ctr"/>
          <a:lstStyle/>
          <a:p>
            <a:pPr indent="0" marL="0">
              <a:buNone/>
            </a:pPr>
            <a:r>
              <a:rPr lang="en-US" sz="1250" dirty="0">
                <a:solidFill>
                  <a:srgbClr val="36454F"/>
                </a:solidFill>
                <a:latin typeface="Calibri" pitchFamily="34" charset="0"/>
                <a:ea typeface="Calibri" pitchFamily="34" charset="-122"/>
                <a:cs typeface="Calibri" pitchFamily="34" charset="-120"/>
              </a:rPr>
              <a:t>Réallouer les supports sans toucher à l'antériorité fiscale. Coût : 0,50 % par opération, potentiel de réduction des frais courants.</a:t>
            </a:r>
            <a:endParaRPr lang="en-US" sz="1250" dirty="0"/>
          </a:p>
        </p:txBody>
      </p:sp>
      <p:sp>
        <p:nvSpPr>
          <p:cNvPr id="9" name="Shape 7"/>
          <p:cNvSpPr/>
          <p:nvPr/>
        </p:nvSpPr>
        <p:spPr>
          <a:xfrm>
            <a:off x="457200" y="2971800"/>
            <a:ext cx="5440680" cy="1536192"/>
          </a:xfrm>
          <a:prstGeom prst="roundRect">
            <a:avLst>
              <a:gd name="adj" fmla="val 3571"/>
            </a:avLst>
          </a:prstGeom>
          <a:solidFill>
            <a:srgbClr val="F2F5FA"/>
          </a:solidFill>
          <a:ln/>
        </p:spPr>
      </p:sp>
      <p:sp>
        <p:nvSpPr>
          <p:cNvPr id="10" name="Text 8"/>
          <p:cNvSpPr/>
          <p:nvPr/>
        </p:nvSpPr>
        <p:spPr>
          <a:xfrm>
            <a:off x="685800" y="3081528"/>
            <a:ext cx="4983480" cy="365760"/>
          </a:xfrm>
          <a:prstGeom prst="rect">
            <a:avLst/>
          </a:prstGeom>
          <a:noFill/>
          <a:ln/>
        </p:spPr>
        <p:txBody>
          <a:bodyPr wrap="square" lIns="0" tIns="0" rIns="0" bIns="0" rtlCol="0" anchor="ctr"/>
          <a:lstStyle/>
          <a:p>
            <a:pPr indent="0" marL="0">
              <a:buNone/>
            </a:pPr>
            <a:r>
              <a:rPr lang="en-US" sz="1550" b="1" dirty="0">
                <a:solidFill>
                  <a:srgbClr val="1E2761"/>
                </a:solidFill>
                <a:latin typeface="Calibri" pitchFamily="34" charset="0"/>
                <a:ea typeface="Calibri" pitchFamily="34" charset="-122"/>
                <a:cs typeface="Calibri" pitchFamily="34" charset="-120"/>
              </a:rPr>
              <a:t>3. Verser sur l'existant</a:t>
            </a:r>
            <a:endParaRPr lang="en-US" sz="1550" dirty="0"/>
          </a:p>
        </p:txBody>
      </p:sp>
      <p:sp>
        <p:nvSpPr>
          <p:cNvPr id="11" name="Text 9"/>
          <p:cNvSpPr/>
          <p:nvPr/>
        </p:nvSpPr>
        <p:spPr>
          <a:xfrm>
            <a:off x="685800" y="3474720"/>
            <a:ext cx="4983480" cy="914400"/>
          </a:xfrm>
          <a:prstGeom prst="rect">
            <a:avLst/>
          </a:prstGeom>
          <a:noFill/>
          <a:ln/>
        </p:spPr>
        <p:txBody>
          <a:bodyPr wrap="square" lIns="0" tIns="0" rIns="0" bIns="0" rtlCol="0" anchor="ctr"/>
          <a:lstStyle/>
          <a:p>
            <a:pPr indent="0" marL="0">
              <a:buNone/>
            </a:pPr>
            <a:r>
              <a:rPr lang="en-US" sz="1250" dirty="0">
                <a:solidFill>
                  <a:srgbClr val="36454F"/>
                </a:solidFill>
                <a:latin typeface="Calibri" pitchFamily="34" charset="0"/>
                <a:ea typeface="Calibri" pitchFamily="34" charset="-122"/>
                <a:cs typeface="Calibri" pitchFamily="34" charset="-120"/>
              </a:rPr>
              <a:t>Profite de l'antériorité (contrat de 2011). Attention aux 3 % de frais sur versement : à négocier avant tout versement.</a:t>
            </a:r>
            <a:endParaRPr lang="en-US" sz="1250" dirty="0"/>
          </a:p>
        </p:txBody>
      </p:sp>
      <p:sp>
        <p:nvSpPr>
          <p:cNvPr id="12" name="Shape 10"/>
          <p:cNvSpPr/>
          <p:nvPr/>
        </p:nvSpPr>
        <p:spPr>
          <a:xfrm>
            <a:off x="6126480" y="2971800"/>
            <a:ext cx="5440680" cy="1536192"/>
          </a:xfrm>
          <a:prstGeom prst="roundRect">
            <a:avLst>
              <a:gd name="adj" fmla="val 3571"/>
            </a:avLst>
          </a:prstGeom>
          <a:solidFill>
            <a:srgbClr val="F2F5FA"/>
          </a:solidFill>
          <a:ln/>
        </p:spPr>
      </p:sp>
      <p:sp>
        <p:nvSpPr>
          <p:cNvPr id="13" name="Text 11"/>
          <p:cNvSpPr/>
          <p:nvPr/>
        </p:nvSpPr>
        <p:spPr>
          <a:xfrm>
            <a:off x="6355080" y="3081528"/>
            <a:ext cx="4983480" cy="365760"/>
          </a:xfrm>
          <a:prstGeom prst="rect">
            <a:avLst/>
          </a:prstGeom>
          <a:noFill/>
          <a:ln/>
        </p:spPr>
        <p:txBody>
          <a:bodyPr wrap="square" lIns="0" tIns="0" rIns="0" bIns="0" rtlCol="0" anchor="ctr"/>
          <a:lstStyle/>
          <a:p>
            <a:pPr indent="0" marL="0">
              <a:buNone/>
            </a:pPr>
            <a:r>
              <a:rPr lang="en-US" sz="1550" b="1" dirty="0">
                <a:solidFill>
                  <a:srgbClr val="1E2761"/>
                </a:solidFill>
                <a:latin typeface="Calibri" pitchFamily="34" charset="0"/>
                <a:ea typeface="Calibri" pitchFamily="34" charset="-122"/>
                <a:cs typeface="Calibri" pitchFamily="34" charset="-120"/>
              </a:rPr>
              <a:t>4. Ouvrir un contrat en parallèle</a:t>
            </a:r>
            <a:endParaRPr lang="en-US" sz="1550" dirty="0"/>
          </a:p>
        </p:txBody>
      </p:sp>
      <p:sp>
        <p:nvSpPr>
          <p:cNvPr id="14" name="Text 12"/>
          <p:cNvSpPr/>
          <p:nvPr/>
        </p:nvSpPr>
        <p:spPr>
          <a:xfrm>
            <a:off x="6355080" y="3474720"/>
            <a:ext cx="4983480" cy="914400"/>
          </a:xfrm>
          <a:prstGeom prst="rect">
            <a:avLst/>
          </a:prstGeom>
          <a:noFill/>
          <a:ln/>
        </p:spPr>
        <p:txBody>
          <a:bodyPr wrap="square" lIns="0" tIns="0" rIns="0" bIns="0" rtlCol="0" anchor="ctr"/>
          <a:lstStyle/>
          <a:p>
            <a:pPr indent="0" marL="0">
              <a:buNone/>
            </a:pPr>
            <a:r>
              <a:rPr lang="en-US" sz="1250" dirty="0">
                <a:solidFill>
                  <a:srgbClr val="36454F"/>
                </a:solidFill>
                <a:latin typeface="Calibri" pitchFamily="34" charset="0"/>
                <a:ea typeface="Calibri" pitchFamily="34" charset="-122"/>
                <a:cs typeface="Calibri" pitchFamily="34" charset="-120"/>
              </a:rPr>
              <a:t>Pour un besoin nouveau (frais plus bas, gamme plus large). Le contrat actuel et ses avantages restent intacts.</a:t>
            </a:r>
            <a:endParaRPr lang="en-US" sz="1250" dirty="0"/>
          </a:p>
        </p:txBody>
      </p:sp>
      <p:sp>
        <p:nvSpPr>
          <p:cNvPr id="15" name="Shape 13"/>
          <p:cNvSpPr/>
          <p:nvPr/>
        </p:nvSpPr>
        <p:spPr>
          <a:xfrm>
            <a:off x="457200" y="4892040"/>
            <a:ext cx="11274552" cy="1325880"/>
          </a:xfrm>
          <a:prstGeom prst="roundRect">
            <a:avLst>
              <a:gd name="adj" fmla="val 4138"/>
            </a:avLst>
          </a:prstGeom>
          <a:solidFill>
            <a:srgbClr val="1E2761"/>
          </a:solidFill>
          <a:ln/>
        </p:spPr>
      </p:sp>
      <p:sp>
        <p:nvSpPr>
          <p:cNvPr id="16" name="Text 14"/>
          <p:cNvSpPr/>
          <p:nvPr/>
        </p:nvSpPr>
        <p:spPr>
          <a:xfrm>
            <a:off x="731520" y="5029200"/>
            <a:ext cx="10698480" cy="1051560"/>
          </a:xfrm>
          <a:prstGeom prst="rect">
            <a:avLst/>
          </a:prstGeom>
          <a:noFill/>
          <a:ln/>
        </p:spPr>
        <p:txBody>
          <a:bodyPr wrap="square" lIns="0" tIns="0" rIns="0" bIns="0" rtlCol="0" anchor="ctr"/>
          <a:lstStyle/>
          <a:p>
            <a:pPr algn="l" indent="0" marL="0">
              <a:buNone/>
            </a:pPr>
            <a:r>
              <a:rPr lang="en-US" sz="1450" b="1" dirty="0">
                <a:solidFill>
                  <a:srgbClr val="FFFFFF"/>
                </a:solidFill>
                <a:latin typeface="Calibri" pitchFamily="34" charset="0"/>
                <a:ea typeface="Calibri" pitchFamily="34" charset="-122"/>
                <a:cs typeface="Calibri" pitchFamily="34" charset="-120"/>
              </a:rPr>
              <a:t>Et le rachat total ?  </a:t>
            </a:r>
            <a:pPr algn="l" indent="0" marL="0">
              <a:buNone/>
            </a:pPr>
            <a:r>
              <a:rPr lang="en-US" sz="1250" dirty="0">
                <a:solidFill>
                  <a:srgbClr val="CADCFC"/>
                </a:solidFill>
                <a:latin typeface="Calibri" pitchFamily="34" charset="0"/>
                <a:ea typeface="Calibri" pitchFamily="34" charset="-122"/>
                <a:cs typeface="Calibri" pitchFamily="34" charset="-120"/>
              </a:rPr>
              <a:t>Ce contrat a plus de 8 ans (ouvert en 2011) et tous ses versements sont antérieurs aux 70 ans du souscripteur : il porte une antériorité fiscale et un cadre de transmission qu'un nouveau contrat ne retrouverait pas. Un rachat ne pourrait être étudié qu'après un calcul complet (coût fiscal vs gain de frais, point mort en années), qui n'est pas instruit ici. La décision appartient au conseiller.</a:t>
            </a:r>
            <a:endParaRPr lang="en-US" sz="1450" dirty="0"/>
          </a:p>
        </p:txBody>
      </p:sp>
      <p:sp>
        <p:nvSpPr>
          <p:cNvPr id="17" name="Text 15"/>
          <p:cNvSpPr/>
          <p:nvPr/>
        </p:nvSpPr>
        <p:spPr>
          <a:xfrm>
            <a:off x="457200" y="6473952"/>
            <a:ext cx="11274552" cy="274320"/>
          </a:xfrm>
          <a:prstGeom prst="rect">
            <a:avLst/>
          </a:prstGeom>
          <a:noFill/>
          <a:ln/>
        </p:spPr>
        <p:txBody>
          <a:bodyPr wrap="square" lIns="0" tIns="0" rIns="0" bIns="0" rtlCol="0" anchor="ctr"/>
          <a:lstStyle/>
          <a:p>
            <a:pPr algn="l" indent="0" marL="0">
              <a:buNone/>
            </a:pPr>
            <a:r>
              <a:rPr lang="en-US" sz="900" dirty="0">
                <a:solidFill>
                  <a:srgbClr val="6B7A8A"/>
                </a:solidFill>
                <a:latin typeface="Calibri" pitchFamily="34" charset="0"/>
                <a:ea typeface="Calibri" pitchFamily="34" charset="-122"/>
                <a:cs typeface="Calibri" pitchFamily="34" charset="-120"/>
              </a:rPr>
              <a:t>Cas fictif famille Martin  |  Données au 31/05/2026  |  Document de travail  |  Cabinet Démo Patrimoine (fictif)</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Données manquantes et prochaines étapes</a:t>
            </a:r>
            <a:endParaRPr lang="en-US" sz="3000" dirty="0"/>
          </a:p>
        </p:txBody>
      </p:sp>
      <p:sp>
        <p:nvSpPr>
          <p:cNvPr id="3" name="Text 1"/>
          <p:cNvSpPr/>
          <p:nvPr/>
        </p:nvSpPr>
        <p:spPr>
          <a:xfrm>
            <a:off x="457200" y="1325880"/>
            <a:ext cx="5440680" cy="411480"/>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À demander au client</a:t>
            </a:r>
            <a:endParaRPr lang="en-US" sz="2000" dirty="0"/>
          </a:p>
        </p:txBody>
      </p:sp>
      <p:sp>
        <p:nvSpPr>
          <p:cNvPr id="4" name="Text 2"/>
          <p:cNvSpPr/>
          <p:nvPr/>
        </p:nvSpPr>
        <p:spPr>
          <a:xfrm>
            <a:off x="457200" y="1828800"/>
            <a:ext cx="5440680" cy="32918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6454F"/>
                </a:solidFill>
                <a:latin typeface="Calibri" pitchFamily="34" charset="0"/>
                <a:ea typeface="Calibri" pitchFamily="34" charset="-122"/>
                <a:cs typeface="Calibri" pitchFamily="34" charset="-120"/>
              </a:rPr>
              <a:t>Le relevé détaillé des versements (dates et montants) pour fiabiliser le volet transmission</a:t>
            </a:r>
            <a:endParaRPr lang="en-US" sz="1400" dirty="0"/>
          </a:p>
          <a:p>
            <a:pPr marL="342900" indent="-342900">
              <a:spcAft>
                <a:spcPts val="800"/>
              </a:spcAft>
              <a:buSzPct val="100000"/>
              <a:buChar char="•"/>
            </a:pPr>
            <a:r>
              <a:rPr lang="en-US" sz="1400" dirty="0">
                <a:solidFill>
                  <a:srgbClr val="36454F"/>
                </a:solidFill>
                <a:latin typeface="Calibri" pitchFamily="34" charset="0"/>
                <a:ea typeface="Calibri" pitchFamily="34" charset="-122"/>
                <a:cs typeface="Calibri" pitchFamily="34" charset="-120"/>
              </a:rPr>
              <a:t>La clause bénéficiaire exacte du contrat (la mention « standard » reste à confirmer sur pièce)</a:t>
            </a:r>
            <a:endParaRPr lang="en-US" sz="1400" dirty="0"/>
          </a:p>
          <a:p>
            <a:pPr marL="342900" indent="-342900">
              <a:spcAft>
                <a:spcPts val="800"/>
              </a:spcAft>
              <a:buSzPct val="100000"/>
              <a:buChar char="•"/>
            </a:pPr>
            <a:r>
              <a:rPr lang="en-US" sz="1400" dirty="0">
                <a:solidFill>
                  <a:srgbClr val="36454F"/>
                </a:solidFill>
                <a:latin typeface="Calibri" pitchFamily="34" charset="0"/>
                <a:ea typeface="Calibri" pitchFamily="34" charset="-122"/>
                <a:cs typeface="Calibri" pitchFamily="34" charset="-120"/>
              </a:rPr>
              <a:t>Les conditions actuelles de l'option de gestion pilotée, si souscrite</a:t>
            </a:r>
            <a:endParaRPr lang="en-US" sz="1400" dirty="0"/>
          </a:p>
          <a:p>
            <a:pPr marL="342900" indent="-342900">
              <a:buSzPct val="100000"/>
              <a:buChar char="•"/>
            </a:pPr>
            <a:r>
              <a:rPr lang="en-US" sz="1400" dirty="0">
                <a:solidFill>
                  <a:srgbClr val="36454F"/>
                </a:solidFill>
                <a:latin typeface="Calibri" pitchFamily="34" charset="0"/>
                <a:ea typeface="Calibri" pitchFamily="34" charset="-122"/>
                <a:cs typeface="Calibri" pitchFamily="34" charset="-120"/>
              </a:rPr>
              <a:t>Le dernier relevé annuel de frais (document normalisé remis par l'assureur)</a:t>
            </a:r>
            <a:endParaRPr lang="en-US" sz="1400" dirty="0"/>
          </a:p>
        </p:txBody>
      </p:sp>
      <p:sp>
        <p:nvSpPr>
          <p:cNvPr id="5" name="Text 3"/>
          <p:cNvSpPr/>
          <p:nvPr/>
        </p:nvSpPr>
        <p:spPr>
          <a:xfrm>
            <a:off x="6309360" y="1325880"/>
            <a:ext cx="5440680" cy="411480"/>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À traiter au prochain rendez-vous</a:t>
            </a:r>
            <a:endParaRPr lang="en-US" sz="2000" dirty="0"/>
          </a:p>
        </p:txBody>
      </p:sp>
      <p:sp>
        <p:nvSpPr>
          <p:cNvPr id="6" name="Text 4"/>
          <p:cNvSpPr/>
          <p:nvPr/>
        </p:nvSpPr>
        <p:spPr>
          <a:xfrm>
            <a:off x="6309360" y="1828800"/>
            <a:ext cx="5440680" cy="32918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6454F"/>
                </a:solidFill>
                <a:latin typeface="Calibri" pitchFamily="34" charset="0"/>
                <a:ea typeface="Calibri" pitchFamily="34" charset="-122"/>
                <a:cs typeface="Calibri" pitchFamily="34" charset="-120"/>
              </a:rPr>
              <a:t>Le doublon actions monde : garder un seul support ?</a:t>
            </a:r>
            <a:endParaRPr lang="en-US" sz="1400" dirty="0"/>
          </a:p>
          <a:p>
            <a:pPr marL="342900" indent="-342900">
              <a:spcAft>
                <a:spcPts val="800"/>
              </a:spcAft>
              <a:buSzPct val="100000"/>
              <a:buChar char="•"/>
            </a:pPr>
            <a:r>
              <a:rPr lang="en-US" sz="1400" dirty="0">
                <a:solidFill>
                  <a:srgbClr val="36454F"/>
                </a:solidFill>
                <a:latin typeface="Calibri" pitchFamily="34" charset="0"/>
                <a:ea typeface="Calibri" pitchFamily="34" charset="-122"/>
                <a:cs typeface="Calibri" pitchFamily="34" charset="-120"/>
              </a:rPr>
              <a:t>Le bon niveau de fonds euros au regard de l'horizon de 8 ans et du besoin de sécurité</a:t>
            </a:r>
            <a:endParaRPr lang="en-US" sz="1400" dirty="0"/>
          </a:p>
          <a:p>
            <a:pPr marL="342900" indent="-342900">
              <a:spcAft>
                <a:spcPts val="800"/>
              </a:spcAft>
              <a:buSzPct val="100000"/>
              <a:buChar char="•"/>
            </a:pPr>
            <a:r>
              <a:rPr lang="en-US" sz="1400" dirty="0">
                <a:solidFill>
                  <a:srgbClr val="36454F"/>
                </a:solidFill>
                <a:latin typeface="Calibri" pitchFamily="34" charset="0"/>
                <a:ea typeface="Calibri" pitchFamily="34" charset="-122"/>
                <a:cs typeface="Calibri" pitchFamily="34" charset="-120"/>
              </a:rPr>
              <a:t>La négociation des frais sur versement avant tout nouveau versement</a:t>
            </a:r>
            <a:endParaRPr lang="en-US" sz="1400" dirty="0"/>
          </a:p>
          <a:p>
            <a:pPr marL="342900" indent="-342900">
              <a:buSzPct val="100000"/>
              <a:buChar char="•"/>
            </a:pPr>
            <a:r>
              <a:rPr lang="en-US" sz="1400" dirty="0">
                <a:solidFill>
                  <a:srgbClr val="36454F"/>
                </a:solidFill>
                <a:latin typeface="Calibri" pitchFamily="34" charset="0"/>
                <a:ea typeface="Calibri" pitchFamily="34" charset="-122"/>
                <a:cs typeface="Calibri" pitchFamily="34" charset="-120"/>
              </a:rPr>
              <a:t>La place de ce contrat dans l'objectif de transmission aux trois enfants</a:t>
            </a:r>
            <a:endParaRPr lang="en-US" sz="1400" dirty="0"/>
          </a:p>
        </p:txBody>
      </p:sp>
      <p:sp>
        <p:nvSpPr>
          <p:cNvPr id="7" name="Text 5"/>
          <p:cNvSpPr/>
          <p:nvPr/>
        </p:nvSpPr>
        <p:spPr>
          <a:xfrm>
            <a:off x="457200" y="6473952"/>
            <a:ext cx="11274552" cy="274320"/>
          </a:xfrm>
          <a:prstGeom prst="rect">
            <a:avLst/>
          </a:prstGeom>
          <a:noFill/>
          <a:ln/>
        </p:spPr>
        <p:txBody>
          <a:bodyPr wrap="square" lIns="0" tIns="0" rIns="0" bIns="0" rtlCol="0" anchor="ctr"/>
          <a:lstStyle/>
          <a:p>
            <a:pPr algn="l" indent="0" marL="0">
              <a:buNone/>
            </a:pPr>
            <a:r>
              <a:rPr lang="en-US" sz="900" dirty="0">
                <a:solidFill>
                  <a:srgbClr val="6B7A8A"/>
                </a:solidFill>
                <a:latin typeface="Calibri" pitchFamily="34" charset="0"/>
                <a:ea typeface="Calibri" pitchFamily="34" charset="-122"/>
                <a:cs typeface="Calibri" pitchFamily="34" charset="-120"/>
              </a:rPr>
              <a:t>Cas fictif famille Martin  |  Données au 31/05/2026  |  Document de travail  |  Cabinet Démo Patrimoine (fictif)</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640080"/>
            <a:ext cx="109728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Mentions</a:t>
            </a:r>
            <a:endParaRPr lang="en-US" sz="2800" dirty="0"/>
          </a:p>
        </p:txBody>
      </p:sp>
      <p:sp>
        <p:nvSpPr>
          <p:cNvPr id="3" name="Text 1"/>
          <p:cNvSpPr/>
          <p:nvPr/>
        </p:nvSpPr>
        <p:spPr>
          <a:xfrm>
            <a:off x="548640" y="1554480"/>
            <a:ext cx="10881360" cy="3840480"/>
          </a:xfrm>
          <a:prstGeom prst="rect">
            <a:avLst/>
          </a:prstGeom>
          <a:noFill/>
          <a:ln/>
        </p:spPr>
        <p:txBody>
          <a:bodyPr wrap="square" lIns="0" tIns="0" rIns="0" bIns="0" rtlCol="0" anchor="t"/>
          <a:lstStyle/>
          <a:p>
            <a:pPr algn="l" indent="0" marL="0">
              <a:spcAft>
                <a:spcPts val="1800"/>
              </a:spcAft>
              <a:buNone/>
            </a:pPr>
            <a:r>
              <a:rPr lang="en-US" sz="1600" dirty="0">
                <a:solidFill>
                  <a:srgbClr val="FFFFFF"/>
                </a:solidFill>
                <a:latin typeface="Calibri" pitchFamily="34" charset="0"/>
                <a:ea typeface="Calibri" pitchFamily="34" charset="-122"/>
                <a:cs typeface="Calibri" pitchFamily="34" charset="-120"/>
              </a:rPr>
              <a:t>Document de travail interne, généré par IA. Ne constitue pas un conseil en investissement. Chiffres et paramètres fiscaux à vérifier et valider par le conseiller avant toute présentation au client.</a:t>
            </a:r>
            <a:endParaRPr lang="en-US" sz="1600" dirty="0"/>
          </a:p>
          <a:p>
            <a:pPr algn="l" indent="0" marL="0">
              <a:spcAft>
                <a:spcPts val="1800"/>
              </a:spcAft>
              <a:buNone/>
            </a:pPr>
            <a:r>
              <a:rPr lang="en-US" sz="1400" dirty="0">
                <a:solidFill>
                  <a:srgbClr val="CADCFC"/>
                </a:solidFill>
                <a:latin typeface="Calibri" pitchFamily="34" charset="0"/>
                <a:ea typeface="Calibri" pitchFamily="34" charset="-122"/>
                <a:cs typeface="Calibri" pitchFamily="34" charset="-120"/>
              </a:rPr>
              <a:t>Ce support est un exemple de démonstration : la famille Martin, la Compagnie Alpha et le contrat Horizon Patrimoine sont fictifs. Toute ressemblance avec des personnes ou produits réels serait fortuite.</a:t>
            </a:r>
            <a:endParaRPr lang="en-US" sz="1600" dirty="0"/>
          </a:p>
          <a:p>
            <a:pPr algn="l" indent="0" marL="0">
              <a:buNone/>
            </a:pPr>
            <a:r>
              <a:rPr lang="en-US" sz="1400" dirty="0">
                <a:solidFill>
                  <a:srgbClr val="CADCFC"/>
                </a:solidFill>
                <a:latin typeface="Calibri" pitchFamily="34" charset="0"/>
                <a:ea typeface="Calibri" pitchFamily="34" charset="-122"/>
                <a:cs typeface="Calibri" pitchFamily="34" charset="-120"/>
              </a:rPr>
              <a:t>Paramètres cités, en valeur au 29/07/2026, à vérifier : repères de frais du marché français ; régime fiscal des rachats après 8 ans ; régimes de transmission selon la date des versements (avant ou après les 70 ans du souscripteur). Les paramètres fiscaux évoluent chaque année.</a:t>
            </a:r>
            <a:endParaRPr lang="en-US" sz="1600" dirty="0"/>
          </a:p>
        </p:txBody>
      </p:sp>
      <p:sp>
        <p:nvSpPr>
          <p:cNvPr id="4" name="Text 2"/>
          <p:cNvSpPr/>
          <p:nvPr/>
        </p:nvSpPr>
        <p:spPr>
          <a:xfrm>
            <a:off x="548640" y="6126480"/>
            <a:ext cx="10881360" cy="365760"/>
          </a:xfrm>
          <a:prstGeom prst="rect">
            <a:avLst/>
          </a:prstGeom>
          <a:noFill/>
          <a:ln/>
        </p:spPr>
        <p:txBody>
          <a:bodyPr wrap="square" lIns="0" tIns="0" rIns="0" bIns="0"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Cabinet Démo Patrimoine (fictif)  ·  Support généré avec le skill « audit-contrat-av »</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2026-07-29T14:46:18Z</dcterms:created>
  <dcterms:modified xsi:type="dcterms:W3CDTF">2026-07-29T14:46:18Z</dcterms:modified>
</cp:coreProperties>
</file>